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35" r:id="rId1"/>
  </p:sldMasterIdLst>
  <p:notesMasterIdLst>
    <p:notesMasterId r:id="rId18"/>
  </p:notesMasterIdLst>
  <p:sldIdLst>
    <p:sldId id="256" r:id="rId2"/>
    <p:sldId id="260" r:id="rId3"/>
    <p:sldId id="273" r:id="rId4"/>
    <p:sldId id="263" r:id="rId5"/>
    <p:sldId id="274" r:id="rId6"/>
    <p:sldId id="275" r:id="rId7"/>
    <p:sldId id="276" r:id="rId8"/>
    <p:sldId id="277" r:id="rId9"/>
    <p:sldId id="278" r:id="rId10"/>
    <p:sldId id="279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hi-I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588" autoAdjust="0"/>
    <p:restoredTop sz="94660"/>
  </p:normalViewPr>
  <p:slideViewPr>
    <p:cSldViewPr snapToGrid="0">
      <p:cViewPr varScale="1">
        <p:scale>
          <a:sx n="65" d="100"/>
          <a:sy n="65" d="100"/>
        </p:scale>
        <p:origin x="50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i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195ECD-4C02-4B68-97B5-DF249DECE8C5}" type="datetimeFigureOut">
              <a:rPr lang="hi-IN" smtClean="0"/>
              <a:t>मंगलवार, 17 आषाढ़ 1947</a:t>
            </a:fld>
            <a:endParaRPr lang="hi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i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i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i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2176AD-DD66-49BF-A835-4F0E46E3AD3C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1344881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087C2-DB2D-9233-1AA9-79EBB860B1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i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457A70-6C62-4C90-40B7-0B90EE1DEC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i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040C42-B7C6-1481-8B26-F5CB1B2C6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CDE55-E6AC-4CD8-9E92-3AA3ECD8B028}" type="datetimeFigureOut">
              <a:rPr lang="hi-IN" smtClean="0"/>
              <a:t>मंगलवार, 17 आषाढ़ 1947</a:t>
            </a:fld>
            <a:endParaRPr lang="hi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3B9C5E-3204-0638-13D7-2D171B5A4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6EFA43-E1D3-35E8-5FAB-E2185036A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76E42-D6E9-4C57-8ED3-9A373F5A3F50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2012327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A7632-5514-80BC-956D-A71CB90FA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i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29903-66DC-0C71-6952-2CFF9B3C08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i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290612-9875-76AA-15B4-C17B415D2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CDE55-E6AC-4CD8-9E92-3AA3ECD8B028}" type="datetimeFigureOut">
              <a:rPr lang="hi-IN" smtClean="0"/>
              <a:t>मंगलवार, 17 आषाढ़ 1947</a:t>
            </a:fld>
            <a:endParaRPr lang="hi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69BA65-3F74-2D6C-C24A-F9603091A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88AC2D-4B10-7EDA-53EF-F4059ECC9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76E42-D6E9-4C57-8ED3-9A373F5A3F50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3989905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9941C-1292-421A-0CF1-D6CAE554D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i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F9A152-A555-2655-F036-FFFD62F31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D5A43E-294D-0205-3E57-6D4A69404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CDE55-E6AC-4CD8-9E92-3AA3ECD8B028}" type="datetimeFigureOut">
              <a:rPr lang="hi-IN" smtClean="0"/>
              <a:t>मंगलवार, 17 आषाढ़ 1947</a:t>
            </a:fld>
            <a:endParaRPr lang="hi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E001C7-B703-ECD8-B33B-0CE93A458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DD1154-0BBD-87E6-F869-8A4CC0C35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76E42-D6E9-4C57-8ED3-9A373F5A3F50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3419553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E1345-B97F-FCEB-2DD2-F3899D0B8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i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AB0E7-C136-8357-FA10-142204B5D1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i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69DCC2-85D4-80D0-0194-10CBD2341B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i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CC4F59-A930-E95B-A768-F06342CA0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CDE55-E6AC-4CD8-9E92-3AA3ECD8B028}" type="datetimeFigureOut">
              <a:rPr lang="hi-IN" smtClean="0"/>
              <a:t>मंगलवार, 17 आषाढ़ 1947</a:t>
            </a:fld>
            <a:endParaRPr lang="hi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10F298-FEB1-34F9-892E-B05E5207B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57F92F-31BA-0D4F-2534-F241CE0A7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76E42-D6E9-4C57-8ED3-9A373F5A3F50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1745602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FF71A-AE62-BD6E-5352-9AA386556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i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02AE09-B4AF-E28C-F8DD-016D13BE5A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DD048D-D9E7-E415-6E8F-E9EF7F8EB9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i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B47459-827D-1676-F2D4-E175DA769D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1BD8F9-F330-64D5-3D5D-EE185AFA07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i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075B5B-8759-04C1-4F6F-FCEF50FF7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CDE55-E6AC-4CD8-9E92-3AA3ECD8B028}" type="datetimeFigureOut">
              <a:rPr lang="hi-IN" smtClean="0"/>
              <a:t>मंगलवार, 17 आषाढ़ 1947</a:t>
            </a:fld>
            <a:endParaRPr lang="hi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452E13-D6D1-E666-C967-F040D2052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95969C-C75F-1E85-9257-09463E0E9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76E42-D6E9-4C57-8ED3-9A373F5A3F50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2149855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6511E-CBA5-7BAB-C8E8-8B6DA41D6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i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4749E2-B9EE-3BB0-254F-28BB10B74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CDE55-E6AC-4CD8-9E92-3AA3ECD8B028}" type="datetimeFigureOut">
              <a:rPr lang="hi-IN" smtClean="0"/>
              <a:t>मंगलवार, 17 आषाढ़ 1947</a:t>
            </a:fld>
            <a:endParaRPr lang="hi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E773EF-B716-74B5-965F-FCDAC267C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C03DF5-000B-6B5C-D7CE-1B8FB9470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76E42-D6E9-4C57-8ED3-9A373F5A3F50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753032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FE5A86-6DFC-4630-4B06-6D2654C77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CDE55-E6AC-4CD8-9E92-3AA3ECD8B028}" type="datetimeFigureOut">
              <a:rPr lang="hi-IN" smtClean="0"/>
              <a:t>मंगलवार, 17 आषाढ़ 1947</a:t>
            </a:fld>
            <a:endParaRPr lang="hi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3928B8-1432-2A81-28E4-873D24C2F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A2A57F-8FC7-F775-F3AA-1C3359F2A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76E42-D6E9-4C57-8ED3-9A373F5A3F50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3821612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CA970-9BCE-FC84-D7EE-5069B4EBA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i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FC6B1-D25E-3EC4-ABC5-E4AD6DA521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i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E17726-D270-6C89-F4B9-D1B624EDF5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11D144-9250-1109-D694-A4EEA6F99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CDE55-E6AC-4CD8-9E92-3AA3ECD8B028}" type="datetimeFigureOut">
              <a:rPr lang="hi-IN" smtClean="0"/>
              <a:t>मंगलवार, 17 आषाढ़ 1947</a:t>
            </a:fld>
            <a:endParaRPr lang="hi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8D05ED-2EC1-B112-72B4-D16920003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3E4EEB-8105-E12E-D546-CDD5291B8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76E42-D6E9-4C57-8ED3-9A373F5A3F50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2909018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05533-CAF6-AEEA-4FDB-5B081660B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i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BE77F0-6E11-2FF9-A8A1-D69B0064A9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i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0E2174-B7E9-32A8-C495-CBD2A43A50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3F4D9A-49C6-66F5-1EC5-6EA1B7650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CDE55-E6AC-4CD8-9E92-3AA3ECD8B028}" type="datetimeFigureOut">
              <a:rPr lang="hi-IN" smtClean="0"/>
              <a:t>मंगलवार, 17 आषाढ़ 1947</a:t>
            </a:fld>
            <a:endParaRPr lang="hi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67A877-54E3-0ED7-5974-D12D2CC1E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32BC07-BF5E-913A-0EFF-6BC92B126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76E42-D6E9-4C57-8ED3-9A373F5A3F50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3163906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63227-C153-A1E0-6FDE-FED306464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i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C06E03-75E0-7CE3-5D4D-30DC4E2567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i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00C75-566F-3271-7572-62D832993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CDE55-E6AC-4CD8-9E92-3AA3ECD8B028}" type="datetimeFigureOut">
              <a:rPr lang="hi-IN" smtClean="0"/>
              <a:t>मंगलवार, 17 आषाढ़ 1947</a:t>
            </a:fld>
            <a:endParaRPr lang="hi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302B0C-D18E-A35A-72B2-953475CF3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6AFB49-1D2B-037F-B009-E1C9FF347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76E42-D6E9-4C57-8ED3-9A373F5A3F50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1301964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29206E-C400-1006-6084-4F6244EC4A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i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433967-0E24-28A0-29F4-F2121AE244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i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E4B145-D0B0-EA37-DBD0-DFBE4604E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CDE55-E6AC-4CD8-9E92-3AA3ECD8B028}" type="datetimeFigureOut">
              <a:rPr lang="hi-IN" smtClean="0"/>
              <a:t>मंगलवार, 17 आषाढ़ 1947</a:t>
            </a:fld>
            <a:endParaRPr lang="hi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438460-C61E-703A-EB59-90723E54C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A2553B-CFA3-922F-D6CD-4433D120D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76E42-D6E9-4C57-8ED3-9A373F5A3F50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8590400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CDE55-E6AC-4CD8-9E92-3AA3ECD8B028}" type="datetimeFigureOut">
              <a:rPr lang="hi-IN" smtClean="0"/>
              <a:t>मंगलवार, 17 आषाढ़ 1947</a:t>
            </a:fld>
            <a:endParaRPr lang="hi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76E42-D6E9-4C57-8ED3-9A373F5A3F50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130881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705D76-D5EF-F2A5-660B-86FBD14B3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i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F9E57E-1764-FA26-5BE3-23C000844A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i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9FB047-272C-E038-1344-6311A37A66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1CDE55-E6AC-4CD8-9E92-3AA3ECD8B028}" type="datetimeFigureOut">
              <a:rPr lang="hi-IN" smtClean="0"/>
              <a:t>मंगलवार, 17 आषाढ़ 1947</a:t>
            </a:fld>
            <a:endParaRPr lang="hi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12154-F8CE-11AB-58D0-939D286D4C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i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6036D-9001-1B17-0932-58ED489DC1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576E42-D6E9-4C57-8ED3-9A373F5A3F50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1231508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6" r:id="rId1"/>
    <p:sldLayoutId id="2147484137" r:id="rId2"/>
    <p:sldLayoutId id="2147484138" r:id="rId3"/>
    <p:sldLayoutId id="2147484139" r:id="rId4"/>
    <p:sldLayoutId id="2147484140" r:id="rId5"/>
    <p:sldLayoutId id="2147484141" r:id="rId6"/>
    <p:sldLayoutId id="2147484142" r:id="rId7"/>
    <p:sldLayoutId id="2147484143" r:id="rId8"/>
    <p:sldLayoutId id="2147484144" r:id="rId9"/>
    <p:sldLayoutId id="2147484145" r:id="rId10"/>
    <p:sldLayoutId id="2147484146" r:id="rId11"/>
    <p:sldLayoutId id="2147484147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i-I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age 3 | powerpoint templates background HD wallpapers | Pxfuel">
            <a:extLst>
              <a:ext uri="{FF2B5EF4-FFF2-40B4-BE49-F238E27FC236}">
                <a16:creationId xmlns:a16="http://schemas.microsoft.com/office/drawing/2014/main" id="{9626ED90-3DC5-221D-FF48-A75A4BB68B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413" y="5365"/>
            <a:ext cx="12258825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EDDC7337-6F6E-87AB-2415-769F94DEDD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50426" y="4277031"/>
            <a:ext cx="5190562" cy="280221"/>
          </a:xfrm>
        </p:spPr>
        <p:txBody>
          <a:bodyPr>
            <a:normAutofit fontScale="62500" lnSpcReduction="20000"/>
          </a:bodyPr>
          <a:lstStyle/>
          <a:p>
            <a:endParaRPr lang="hi-IN" dirty="0"/>
          </a:p>
        </p:txBody>
      </p:sp>
      <p:pic>
        <p:nvPicPr>
          <p:cNvPr id="8" name="Picture 2" descr="418+ Thousand Sales Data Royalty-Free Images, Stock Photos &amp; Pictures |  Shutterstock">
            <a:extLst>
              <a:ext uri="{FF2B5EF4-FFF2-40B4-BE49-F238E27FC236}">
                <a16:creationId xmlns:a16="http://schemas.microsoft.com/office/drawing/2014/main" id="{9F148DC5-D3C7-1037-73DB-C99EB4CE71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27" r="12228" b="12977"/>
          <a:stretch/>
        </p:blipFill>
        <p:spPr bwMode="auto">
          <a:xfrm>
            <a:off x="3023419" y="337110"/>
            <a:ext cx="8981768" cy="6183779"/>
          </a:xfrm>
          <a:prstGeom prst="rect">
            <a:avLst/>
          </a:prstGeom>
          <a:noFill/>
          <a:scene3d>
            <a:camera prst="perspectiveLeft"/>
            <a:lightRig rig="threePt" dir="t"/>
          </a:scene3d>
          <a:sp3d z="12700" prstMaterial="matte">
            <a:bevelT prst="angle"/>
            <a:bevelB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6F74627-3BB0-ABFD-1F88-82226FFC721F}"/>
              </a:ext>
            </a:extLst>
          </p:cNvPr>
          <p:cNvSpPr txBox="1"/>
          <p:nvPr/>
        </p:nvSpPr>
        <p:spPr>
          <a:xfrm>
            <a:off x="0" y="4277031"/>
            <a:ext cx="328889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</a:rPr>
              <a:t>By:</a:t>
            </a:r>
          </a:p>
          <a:p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</a:rPr>
              <a:t>   Anbunagaakshmi S</a:t>
            </a:r>
          </a:p>
          <a:p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</a:rPr>
              <a:t>   DADS</a:t>
            </a:r>
          </a:p>
          <a:p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</a:rPr>
              <a:t>   Feb- online Batch</a:t>
            </a:r>
          </a:p>
          <a:p>
            <a:endParaRPr lang="hi-IN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A1F5F79-6744-CA3F-71CD-6B89BB149E3E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0" y="2801587"/>
            <a:ext cx="8519293" cy="1099853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5400000" scaled="1"/>
          </a:gradFill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  <a:innerShdw blurRad="63500" dist="50800" dir="54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extrusionClr>
                <a:schemeClr val="tx1"/>
              </a:extrusionClr>
            </a:sp3d>
          </a:bodyPr>
          <a:lstStyle>
            <a:defPPr>
              <a:defRPr lang="en-US"/>
            </a:defPPr>
            <a:lvl1pPr>
              <a:defRPr sz="3600" b="1">
                <a:solidFill>
                  <a:srgbClr val="FFFFFF"/>
                </a:solidFill>
                <a:latin typeface="Cambria" panose="02040503050406030204" pitchFamily="18" charset="0"/>
              </a:defRPr>
            </a:lvl1pPr>
          </a:lstStyle>
          <a:p>
            <a:r>
              <a:rPr lang="en-US" dirty="0"/>
              <a:t>Sales and Profit Analysis</a:t>
            </a:r>
            <a:br>
              <a:rPr lang="en-US" dirty="0"/>
            </a:br>
            <a:r>
              <a:rPr lang="en-US" dirty="0"/>
              <a:t>Superstores Sales Dataset</a:t>
            </a:r>
            <a:endParaRPr lang="hi-IN" dirty="0"/>
          </a:p>
        </p:txBody>
      </p:sp>
    </p:spTree>
    <p:extLst>
      <p:ext uri="{BB962C8B-B14F-4D97-AF65-F5344CB8AC3E}">
        <p14:creationId xmlns:p14="http://schemas.microsoft.com/office/powerpoint/2010/main" val="525668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age 3 | powerpoint templates background HD wallpapers | Pxfuel">
            <a:extLst>
              <a:ext uri="{FF2B5EF4-FFF2-40B4-BE49-F238E27FC236}">
                <a16:creationId xmlns:a16="http://schemas.microsoft.com/office/drawing/2014/main" id="{C2867625-2BD0-3FD7-BAC1-66472FA475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413" y="5365"/>
            <a:ext cx="12258825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BC29225-E2DD-9C30-F4A8-400C34FB5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7665" y="131821"/>
            <a:ext cx="6622025" cy="1107044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</a:rPr>
              <a:t>Project Overview</a:t>
            </a:r>
            <a:endParaRPr lang="hi-IN" b="1" dirty="0">
              <a:solidFill>
                <a:srgbClr val="FF0000"/>
              </a:solidFill>
              <a:latin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3F654-3489-AE3E-3A1A-9073675ECA2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356852"/>
            <a:ext cx="10363826" cy="4434348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  <a:latin typeface="Cambria" panose="02040503050406030204" pitchFamily="18" charset="0"/>
              </a:rPr>
              <a:t>Objective:</a:t>
            </a:r>
            <a:r>
              <a:rPr lang="en-IN" dirty="0">
                <a:solidFill>
                  <a:schemeClr val="bg1"/>
                </a:solidFill>
                <a:latin typeface="Cambria" panose="02040503050406030204" pitchFamily="18" charset="0"/>
              </a:rPr>
              <a:t> Analyse sales and profit trends.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  <a:latin typeface="Cambria" panose="02040503050406030204" pitchFamily="18" charset="0"/>
              </a:rPr>
              <a:t>Tools Used:</a:t>
            </a:r>
            <a:r>
              <a:rPr lang="en-IN" dirty="0">
                <a:solidFill>
                  <a:schemeClr val="bg1"/>
                </a:solidFill>
                <a:latin typeface="Cambria" panose="02040503050406030204" pitchFamily="18" charset="0"/>
              </a:rPr>
              <a:t> My SQL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  <a:latin typeface="Cambria" panose="02040503050406030204" pitchFamily="18" charset="0"/>
              </a:rPr>
              <a:t>Goal:</a:t>
            </a:r>
            <a:r>
              <a:rPr lang="en-IN" dirty="0">
                <a:solidFill>
                  <a:schemeClr val="bg1"/>
                </a:solidFill>
                <a:latin typeface="Cambria" panose="02040503050406030204" pitchFamily="18" charset="0"/>
              </a:rPr>
              <a:t> Provide actionable insights for business growth.</a:t>
            </a:r>
          </a:p>
          <a:p>
            <a:endParaRPr lang="hi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CC3F91-CF95-7650-3CE8-FEE5E7E766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7587" y="339213"/>
            <a:ext cx="840658" cy="840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868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Page 3 | powerpoint templates background HD wallpapers | Pxfuel">
            <a:extLst>
              <a:ext uri="{FF2B5EF4-FFF2-40B4-BE49-F238E27FC236}">
                <a16:creationId xmlns:a16="http://schemas.microsoft.com/office/drawing/2014/main" id="{2FC01273-3E29-1D2E-564E-F09A36A341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413" y="5365"/>
            <a:ext cx="12258825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</p:pic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451846A-59D8-5866-1ACC-3A447B68F99E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6484" y="1355460"/>
            <a:ext cx="8226988" cy="1991462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56A1031D-10AF-A1AD-1511-93EBF2245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516" y="232390"/>
            <a:ext cx="10515600" cy="637766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</a:rPr>
              <a:t>Key Insights:</a:t>
            </a:r>
            <a:endParaRPr lang="hi-IN" b="1" dirty="0">
              <a:solidFill>
                <a:srgbClr val="FF0000"/>
              </a:solidFill>
              <a:latin typeface="Cambria" panose="020405030504060302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60C4EE-187F-389A-7277-2741BB8053E0}"/>
              </a:ext>
            </a:extLst>
          </p:cNvPr>
          <p:cNvSpPr txBox="1"/>
          <p:nvPr/>
        </p:nvSpPr>
        <p:spPr>
          <a:xfrm>
            <a:off x="1061884" y="870156"/>
            <a:ext cx="274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</a:rPr>
              <a:t>Total Sales:</a:t>
            </a:r>
            <a:endParaRPr lang="hi-IN" sz="2400" b="1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15AFC6-7039-DF59-9B0F-859AAB0C5EF7}"/>
              </a:ext>
            </a:extLst>
          </p:cNvPr>
          <p:cNvSpPr txBox="1"/>
          <p:nvPr/>
        </p:nvSpPr>
        <p:spPr>
          <a:xfrm>
            <a:off x="1061884" y="3346922"/>
            <a:ext cx="274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</a:rPr>
              <a:t>Total Orders:</a:t>
            </a:r>
            <a:endParaRPr lang="hi-IN" sz="2400" b="1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CD9A446-44DD-8C5A-1EB4-256DCB4661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6484" y="3973525"/>
            <a:ext cx="8353426" cy="2576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192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" descr="Page 3 | powerpoint templates background HD wallpapers | Pxfuel">
            <a:extLst>
              <a:ext uri="{FF2B5EF4-FFF2-40B4-BE49-F238E27FC236}">
                <a16:creationId xmlns:a16="http://schemas.microsoft.com/office/drawing/2014/main" id="{E5925ACA-2962-281A-E9C4-6838D87E70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413" y="5365"/>
            <a:ext cx="12258825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F60C4EE-187F-389A-7277-2741BB8053E0}"/>
              </a:ext>
            </a:extLst>
          </p:cNvPr>
          <p:cNvSpPr txBox="1"/>
          <p:nvPr/>
        </p:nvSpPr>
        <p:spPr>
          <a:xfrm>
            <a:off x="707922" y="349720"/>
            <a:ext cx="274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</a:rPr>
              <a:t>Total Profit:</a:t>
            </a:r>
            <a:endParaRPr lang="hi-IN" sz="2400" b="1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15AFC6-7039-DF59-9B0F-859AAB0C5EF7}"/>
              </a:ext>
            </a:extLst>
          </p:cNvPr>
          <p:cNvSpPr txBox="1"/>
          <p:nvPr/>
        </p:nvSpPr>
        <p:spPr>
          <a:xfrm>
            <a:off x="707922" y="3375709"/>
            <a:ext cx="274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</a:rPr>
              <a:t>Profit Percentage:</a:t>
            </a:r>
            <a:endParaRPr lang="hi-IN" sz="2400" b="1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pic>
        <p:nvPicPr>
          <p:cNvPr id="17" name="Content Placeholder 1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2355308-FDD5-78DB-AD6F-21C6775B3E79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6483" y="811385"/>
            <a:ext cx="8264935" cy="2386781"/>
          </a:xfrm>
        </p:spPr>
      </p:pic>
      <p:pic>
        <p:nvPicPr>
          <p:cNvPr id="19" name="Picture 1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E1C6FD0-310B-EE81-0C89-A9BE9C73B2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6484" y="3855934"/>
            <a:ext cx="8264934" cy="2652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135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Page 3 | powerpoint templates background HD wallpapers | Pxfuel">
            <a:extLst>
              <a:ext uri="{FF2B5EF4-FFF2-40B4-BE49-F238E27FC236}">
                <a16:creationId xmlns:a16="http://schemas.microsoft.com/office/drawing/2014/main" id="{9F60C9FC-4A62-F8B1-7F4F-FB26B2E0B5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413" y="5365"/>
            <a:ext cx="12258825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F60C4EE-187F-389A-7277-2741BB8053E0}"/>
              </a:ext>
            </a:extLst>
          </p:cNvPr>
          <p:cNvSpPr txBox="1"/>
          <p:nvPr/>
        </p:nvSpPr>
        <p:spPr>
          <a:xfrm>
            <a:off x="678425" y="232471"/>
            <a:ext cx="274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</a:rPr>
              <a:t>Top Product:</a:t>
            </a:r>
            <a:endParaRPr lang="hi-IN" sz="2400" b="1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690220F-A2B4-04C8-1297-E42148C42750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1958" y="921242"/>
            <a:ext cx="8419178" cy="5096100"/>
          </a:xfrm>
        </p:spPr>
      </p:pic>
    </p:spTree>
    <p:extLst>
      <p:ext uri="{BB962C8B-B14F-4D97-AF65-F5344CB8AC3E}">
        <p14:creationId xmlns:p14="http://schemas.microsoft.com/office/powerpoint/2010/main" val="1438059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Page 3 | powerpoint templates background HD wallpapers | Pxfuel">
            <a:extLst>
              <a:ext uri="{FF2B5EF4-FFF2-40B4-BE49-F238E27FC236}">
                <a16:creationId xmlns:a16="http://schemas.microsoft.com/office/drawing/2014/main" id="{F534F652-E7CF-7B93-564B-3EF3F9D3E0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413" y="5365"/>
            <a:ext cx="12258825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F60C4EE-187F-389A-7277-2741BB8053E0}"/>
              </a:ext>
            </a:extLst>
          </p:cNvPr>
          <p:cNvSpPr txBox="1"/>
          <p:nvPr/>
        </p:nvSpPr>
        <p:spPr>
          <a:xfrm>
            <a:off x="560438" y="216984"/>
            <a:ext cx="40115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</a:rPr>
              <a:t>Most Preferred Ship Mode:</a:t>
            </a:r>
            <a:endParaRPr lang="hi-IN" sz="2400" b="1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776FC23-A447-43E5-95A5-10B1935F462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359" y="3890665"/>
            <a:ext cx="8827523" cy="2860964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FBA19EB-1424-8071-9503-2B79DD2092B4}"/>
              </a:ext>
            </a:extLst>
          </p:cNvPr>
          <p:cNvSpPr txBox="1"/>
          <p:nvPr/>
        </p:nvSpPr>
        <p:spPr>
          <a:xfrm>
            <a:off x="560438" y="3429000"/>
            <a:ext cx="274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</a:rPr>
              <a:t> Total Ship Mode:</a:t>
            </a:r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632BCFD-D744-3A5D-9BC0-440B35D4DA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358" y="678649"/>
            <a:ext cx="8827525" cy="2750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604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Page 3 | powerpoint templates background HD wallpapers | Pxfuel">
            <a:extLst>
              <a:ext uri="{FF2B5EF4-FFF2-40B4-BE49-F238E27FC236}">
                <a16:creationId xmlns:a16="http://schemas.microsoft.com/office/drawing/2014/main" id="{E6929724-791D-9AD6-78F0-CE10216D56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413" y="5365"/>
            <a:ext cx="12258825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F60C4EE-187F-389A-7277-2741BB8053E0}"/>
              </a:ext>
            </a:extLst>
          </p:cNvPr>
          <p:cNvSpPr txBox="1"/>
          <p:nvPr/>
        </p:nvSpPr>
        <p:spPr>
          <a:xfrm>
            <a:off x="412954" y="35867"/>
            <a:ext cx="40115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</a:rPr>
              <a:t>Customer Segments':</a:t>
            </a:r>
            <a:endParaRPr lang="hi-IN" sz="2400" b="1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BA19EB-1424-8071-9503-2B79DD2092B4}"/>
              </a:ext>
            </a:extLst>
          </p:cNvPr>
          <p:cNvSpPr txBox="1"/>
          <p:nvPr/>
        </p:nvSpPr>
        <p:spPr>
          <a:xfrm>
            <a:off x="412954" y="3147306"/>
            <a:ext cx="274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</a:rPr>
              <a:t>Region Wise:</a:t>
            </a:r>
            <a:endParaRPr lang="hi-IN" sz="2400" b="1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D1CAF56-08B0-0C79-682E-5CFCFA7C30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0371" y="483542"/>
            <a:ext cx="8798029" cy="2714625"/>
          </a:xfrm>
          <a:prstGeom prst="rect">
            <a:avLst/>
          </a:prstGeom>
        </p:spPr>
      </p:pic>
      <p:pic>
        <p:nvPicPr>
          <p:cNvPr id="11" name="Content Placeholder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98C315F-1AE2-A990-E483-D0FD142E1B7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2374" y="3608971"/>
            <a:ext cx="8694021" cy="3162300"/>
          </a:xfrm>
        </p:spPr>
      </p:pic>
    </p:spTree>
    <p:extLst>
      <p:ext uri="{BB962C8B-B14F-4D97-AF65-F5344CB8AC3E}">
        <p14:creationId xmlns:p14="http://schemas.microsoft.com/office/powerpoint/2010/main" val="4076649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Page 3 | powerpoint templates background HD wallpapers | Pxfuel">
            <a:extLst>
              <a:ext uri="{FF2B5EF4-FFF2-40B4-BE49-F238E27FC236}">
                <a16:creationId xmlns:a16="http://schemas.microsoft.com/office/drawing/2014/main" id="{90A25533-AAB2-67C4-BD37-6A44137625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413" y="5365"/>
            <a:ext cx="12258825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F60C4EE-187F-389A-7277-2741BB8053E0}"/>
              </a:ext>
            </a:extLst>
          </p:cNvPr>
          <p:cNvSpPr txBox="1"/>
          <p:nvPr/>
        </p:nvSpPr>
        <p:spPr>
          <a:xfrm>
            <a:off x="545690" y="418096"/>
            <a:ext cx="40115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</a:rPr>
              <a:t>State Wise:</a:t>
            </a:r>
            <a:endParaRPr lang="hi-IN" sz="2400" b="1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7B0EF01-209C-1086-D5E3-4303F94C0C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3160" y="977234"/>
            <a:ext cx="8676969" cy="5615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529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Page 3 | powerpoint templates background HD wallpapers | Pxfuel">
            <a:extLst>
              <a:ext uri="{FF2B5EF4-FFF2-40B4-BE49-F238E27FC236}">
                <a16:creationId xmlns:a16="http://schemas.microsoft.com/office/drawing/2014/main" id="{90A25533-AAB2-67C4-BD37-6A44137625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413" y="5365"/>
            <a:ext cx="12258825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F60C4EE-187F-389A-7277-2741BB8053E0}"/>
              </a:ext>
            </a:extLst>
          </p:cNvPr>
          <p:cNvSpPr txBox="1"/>
          <p:nvPr/>
        </p:nvSpPr>
        <p:spPr>
          <a:xfrm>
            <a:off x="545690" y="418096"/>
            <a:ext cx="40115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</a:rPr>
              <a:t>Subcategory Wise:</a:t>
            </a:r>
            <a:endParaRPr lang="hi-IN" sz="2400" b="1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CCCB914-5229-CA28-402A-AD49EF2C0A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613" y="879761"/>
            <a:ext cx="9542206" cy="5698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5463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Page 3 | powerpoint templates background HD wallpapers | Pxfuel">
            <a:extLst>
              <a:ext uri="{FF2B5EF4-FFF2-40B4-BE49-F238E27FC236}">
                <a16:creationId xmlns:a16="http://schemas.microsoft.com/office/drawing/2014/main" id="{90A25533-AAB2-67C4-BD37-6A44137625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413" y="5365"/>
            <a:ext cx="12258825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F60C4EE-187F-389A-7277-2741BB8053E0}"/>
              </a:ext>
            </a:extLst>
          </p:cNvPr>
          <p:cNvSpPr txBox="1"/>
          <p:nvPr/>
        </p:nvSpPr>
        <p:spPr>
          <a:xfrm>
            <a:off x="486697" y="64247"/>
            <a:ext cx="40115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</a:rPr>
              <a:t>Year Wise:</a:t>
            </a:r>
            <a:endParaRPr lang="hi-IN" sz="2400" b="1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D315577-E724-E601-CF03-51549CC9EB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1705" y="494795"/>
            <a:ext cx="9497962" cy="29884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9A91E6A-C8D9-5041-73F6-4AC7F909F13B}"/>
              </a:ext>
            </a:extLst>
          </p:cNvPr>
          <p:cNvSpPr txBox="1"/>
          <p:nvPr/>
        </p:nvSpPr>
        <p:spPr>
          <a:xfrm>
            <a:off x="486697" y="3532953"/>
            <a:ext cx="40115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</a:rPr>
              <a:t>Category Wise:</a:t>
            </a:r>
            <a:endParaRPr lang="hi-IN" sz="2400" b="1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64C8F3F-F5BB-13D0-4882-0CCEA27B2E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083"/>
          <a:stretch/>
        </p:blipFill>
        <p:spPr>
          <a:xfrm>
            <a:off x="1241705" y="4044330"/>
            <a:ext cx="9497962" cy="2601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5672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age 3 | powerpoint templates background HD wallpapers | Pxfuel">
            <a:extLst>
              <a:ext uri="{FF2B5EF4-FFF2-40B4-BE49-F238E27FC236}">
                <a16:creationId xmlns:a16="http://schemas.microsoft.com/office/drawing/2014/main" id="{5548C11C-D5C8-B77C-1BCA-C4DEDEC8F5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413" y="5365"/>
            <a:ext cx="12258825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B938293-BD00-96C6-DAEA-70933E6C8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297" y="250723"/>
            <a:ext cx="8259097" cy="530943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Cambria" panose="02040503050406030204" pitchFamily="18" charset="0"/>
              </a:rPr>
              <a:t>Insights</a:t>
            </a:r>
            <a:r>
              <a:rPr lang="en-IN" b="1" dirty="0">
                <a:latin typeface="Cambria" panose="02040503050406030204" pitchFamily="18" charset="0"/>
              </a:rPr>
              <a:t> </a:t>
            </a:r>
            <a:r>
              <a:rPr lang="en-IN" b="1" dirty="0">
                <a:solidFill>
                  <a:srgbClr val="FF0000"/>
                </a:solidFill>
                <a:latin typeface="Cambria" panose="02040503050406030204" pitchFamily="18" charset="0"/>
              </a:rPr>
              <a:t>from  Superstore Dataset</a:t>
            </a:r>
            <a:endParaRPr lang="hi-IN" b="1" dirty="0">
              <a:solidFill>
                <a:srgbClr val="FF0000"/>
              </a:solidFill>
              <a:latin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350EC-316D-0FA3-5DAD-E68A77496E0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9935" y="943897"/>
            <a:ext cx="11076039" cy="5663380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AutoNum type="arabicPeriod"/>
            </a:pPr>
            <a:r>
              <a:rPr lang="en-IN" sz="3000" b="1" u="sng" dirty="0">
                <a:solidFill>
                  <a:srgbClr val="FFFF00"/>
                </a:solidFill>
                <a:latin typeface="Cambria" panose="02040503050406030204" pitchFamily="18" charset="0"/>
              </a:rPr>
              <a:t>Sales and Profit Overview</a:t>
            </a:r>
          </a:p>
          <a:p>
            <a:pPr marL="514350" indent="-514350">
              <a:buAutoNum type="arabicPeriod"/>
            </a:pPr>
            <a:endParaRPr lang="en-IN" sz="3000" b="1" u="sng" dirty="0">
              <a:solidFill>
                <a:srgbClr val="FFFF00"/>
              </a:solidFill>
              <a:latin typeface="Cambria" panose="02040503050406030204" pitchFamily="18" charset="0"/>
            </a:endParaRPr>
          </a:p>
          <a:p>
            <a:pPr lvl="2">
              <a:buFont typeface="Wingdings" panose="05000000000000000000" pitchFamily="2" charset="2"/>
              <a:buChar char="Ø"/>
            </a:pPr>
            <a:r>
              <a:rPr lang="en-IN" sz="2600" b="1" dirty="0">
                <a:solidFill>
                  <a:schemeClr val="bg1"/>
                </a:solidFill>
                <a:latin typeface="Cambria" panose="02040503050406030204" pitchFamily="18" charset="0"/>
              </a:rPr>
              <a:t>Sales</a:t>
            </a:r>
            <a:r>
              <a:rPr lang="en-IN" sz="2600" dirty="0">
                <a:solidFill>
                  <a:schemeClr val="bg1"/>
                </a:solidFill>
                <a:latin typeface="Cambria" panose="02040503050406030204" pitchFamily="18" charset="0"/>
              </a:rPr>
              <a:t> are good in certain categories, but </a:t>
            </a:r>
            <a:r>
              <a:rPr lang="en-IN" sz="2600" b="1" dirty="0">
                <a:solidFill>
                  <a:schemeClr val="bg1"/>
                </a:solidFill>
                <a:latin typeface="Cambria" panose="02040503050406030204" pitchFamily="18" charset="0"/>
              </a:rPr>
              <a:t>profitability</a:t>
            </a:r>
            <a:r>
              <a:rPr lang="en-IN" sz="2600" dirty="0">
                <a:solidFill>
                  <a:schemeClr val="bg1"/>
                </a:solidFill>
                <a:latin typeface="Cambria" panose="02040503050406030204" pitchFamily="18" charset="0"/>
              </a:rPr>
              <a:t> is </a:t>
            </a:r>
            <a:r>
              <a:rPr lang="en-IN" sz="2600" b="1" dirty="0">
                <a:solidFill>
                  <a:schemeClr val="bg1"/>
                </a:solidFill>
                <a:latin typeface="Cambria" panose="02040503050406030204" pitchFamily="18" charset="0"/>
              </a:rPr>
              <a:t>very uneven</a:t>
            </a:r>
            <a:r>
              <a:rPr lang="en-IN" sz="2600" dirty="0">
                <a:solidFill>
                  <a:schemeClr val="bg1"/>
                </a:solidFill>
                <a:latin typeface="Cambria" panose="02040503050406030204" pitchFamily="18" charset="0"/>
              </a:rPr>
              <a:t>.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IN" sz="2600" b="1" dirty="0">
                <a:solidFill>
                  <a:schemeClr val="bg1"/>
                </a:solidFill>
                <a:latin typeface="Cambria" panose="02040503050406030204" pitchFamily="18" charset="0"/>
              </a:rPr>
              <a:t>High sales</a:t>
            </a:r>
            <a:r>
              <a:rPr lang="en-IN" sz="2600" dirty="0">
                <a:solidFill>
                  <a:schemeClr val="bg1"/>
                </a:solidFill>
                <a:latin typeface="Cambria" panose="02040503050406030204" pitchFamily="18" charset="0"/>
              </a:rPr>
              <a:t> areas like </a:t>
            </a:r>
            <a:r>
              <a:rPr lang="en-IN" sz="2600" b="1" dirty="0">
                <a:solidFill>
                  <a:schemeClr val="bg1"/>
                </a:solidFill>
                <a:latin typeface="Cambria" panose="02040503050406030204" pitchFamily="18" charset="0"/>
              </a:rPr>
              <a:t>Furniture</a:t>
            </a:r>
            <a:r>
              <a:rPr lang="en-IN" sz="2600" dirty="0">
                <a:solidFill>
                  <a:schemeClr val="bg1"/>
                </a:solidFill>
                <a:latin typeface="Cambria" panose="02040503050406030204" pitchFamily="18" charset="0"/>
              </a:rPr>
              <a:t> sometimes have </a:t>
            </a:r>
            <a:r>
              <a:rPr lang="en-IN" sz="2600" b="1" dirty="0">
                <a:solidFill>
                  <a:schemeClr val="bg1"/>
                </a:solidFill>
                <a:latin typeface="Cambria" panose="02040503050406030204" pitchFamily="18" charset="0"/>
              </a:rPr>
              <a:t>low or negative profit margins</a:t>
            </a:r>
            <a:r>
              <a:rPr lang="en-IN" sz="2600" dirty="0">
                <a:solidFill>
                  <a:schemeClr val="bg1"/>
                </a:solidFill>
                <a:latin typeface="Cambria" panose="02040503050406030204" pitchFamily="18" charset="0"/>
              </a:rPr>
              <a:t>.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IN" sz="2600" dirty="0">
                <a:solidFill>
                  <a:schemeClr val="bg1"/>
                </a:solidFill>
                <a:latin typeface="Cambria" panose="02040503050406030204" pitchFamily="18" charset="0"/>
              </a:rPr>
              <a:t>Some </a:t>
            </a:r>
            <a:r>
              <a:rPr lang="en-IN" sz="2600" b="1" dirty="0">
                <a:solidFill>
                  <a:schemeClr val="bg1"/>
                </a:solidFill>
                <a:latin typeface="Cambria" panose="02040503050406030204" pitchFamily="18" charset="0"/>
              </a:rPr>
              <a:t>sub-categories</a:t>
            </a:r>
            <a:r>
              <a:rPr lang="en-IN" sz="2600" dirty="0">
                <a:solidFill>
                  <a:schemeClr val="bg1"/>
                </a:solidFill>
                <a:latin typeface="Cambria" panose="02040503050406030204" pitchFamily="18" charset="0"/>
              </a:rPr>
              <a:t> consistently show </a:t>
            </a:r>
            <a:r>
              <a:rPr lang="en-IN" sz="2600" b="1" dirty="0">
                <a:solidFill>
                  <a:schemeClr val="bg1"/>
                </a:solidFill>
                <a:latin typeface="Cambria" panose="02040503050406030204" pitchFamily="18" charset="0"/>
              </a:rPr>
              <a:t>losses</a:t>
            </a:r>
            <a:r>
              <a:rPr lang="en-IN" sz="2600" dirty="0">
                <a:solidFill>
                  <a:schemeClr val="bg1"/>
                </a:solidFill>
                <a:latin typeface="Cambria" panose="02040503050406030204" pitchFamily="18" charset="0"/>
              </a:rPr>
              <a:t> despite </a:t>
            </a:r>
            <a:r>
              <a:rPr lang="en-IN" sz="2600" b="1" dirty="0">
                <a:solidFill>
                  <a:schemeClr val="bg1"/>
                </a:solidFill>
                <a:latin typeface="Cambria" panose="02040503050406030204" pitchFamily="18" charset="0"/>
              </a:rPr>
              <a:t>decent sales volumes</a:t>
            </a:r>
            <a:r>
              <a:rPr lang="en-IN" sz="2600" dirty="0">
                <a:solidFill>
                  <a:schemeClr val="bg1"/>
                </a:solidFill>
                <a:latin typeface="Cambria" panose="02040503050406030204" pitchFamily="18" charset="0"/>
              </a:rPr>
              <a:t> (e.g., </a:t>
            </a:r>
            <a:r>
              <a:rPr lang="en-IN" sz="2600" b="1" dirty="0">
                <a:solidFill>
                  <a:schemeClr val="bg1"/>
                </a:solidFill>
                <a:latin typeface="Cambria" panose="02040503050406030204" pitchFamily="18" charset="0"/>
              </a:rPr>
              <a:t>Tables, Bookcases</a:t>
            </a:r>
            <a:r>
              <a:rPr lang="en-IN" sz="2600" dirty="0">
                <a:solidFill>
                  <a:schemeClr val="bg1"/>
                </a:solidFill>
                <a:latin typeface="Cambria" panose="02040503050406030204" pitchFamily="18" charset="0"/>
              </a:rPr>
              <a:t>).</a:t>
            </a:r>
          </a:p>
          <a:p>
            <a:pPr marL="0" indent="0">
              <a:buNone/>
            </a:pPr>
            <a:r>
              <a:rPr lang="en-IN" sz="3000" b="1" u="sng" dirty="0">
                <a:solidFill>
                  <a:srgbClr val="FFFF00"/>
                </a:solidFill>
                <a:latin typeface="Cambria" panose="02040503050406030204" pitchFamily="18" charset="0"/>
              </a:rPr>
              <a:t>2. Category and Sub-Category Performance</a:t>
            </a:r>
          </a:p>
          <a:p>
            <a:pPr marL="0" indent="0">
              <a:buNone/>
            </a:pPr>
            <a:endParaRPr lang="en-IN" sz="3000" b="1" u="sng" dirty="0">
              <a:solidFill>
                <a:srgbClr val="FFFF00"/>
              </a:solidFill>
              <a:latin typeface="Cambria" panose="02040503050406030204" pitchFamily="18" charset="0"/>
            </a:endParaRPr>
          </a:p>
          <a:p>
            <a:pPr lvl="2">
              <a:buFont typeface="Wingdings" panose="05000000000000000000" pitchFamily="2" charset="2"/>
              <a:buChar char="Ø"/>
            </a:pPr>
            <a:r>
              <a:rPr lang="en-IN" sz="3000" dirty="0">
                <a:solidFill>
                  <a:schemeClr val="bg1"/>
                </a:solidFill>
                <a:latin typeface="Cambria" panose="02040503050406030204" pitchFamily="18" charset="0"/>
              </a:rPr>
              <a:t>Top-selling categories:</a:t>
            </a:r>
          </a:p>
          <a:p>
            <a:pPr lvl="3">
              <a:buFont typeface="Wingdings" panose="05000000000000000000" pitchFamily="2" charset="2"/>
              <a:buChar char="v"/>
            </a:pPr>
            <a:r>
              <a:rPr lang="en-IN" sz="2600" b="1" dirty="0">
                <a:solidFill>
                  <a:schemeClr val="bg1"/>
                </a:solidFill>
                <a:latin typeface="Cambria" panose="02040503050406030204" pitchFamily="18" charset="0"/>
              </a:rPr>
              <a:t>Technology </a:t>
            </a:r>
            <a:r>
              <a:rPr lang="en-IN" sz="2600" dirty="0">
                <a:solidFill>
                  <a:schemeClr val="bg1"/>
                </a:solidFill>
                <a:latin typeface="Cambria" panose="02040503050406030204" pitchFamily="18" charset="0"/>
              </a:rPr>
              <a:t>(Strong sales and good profit margins)</a:t>
            </a:r>
          </a:p>
          <a:p>
            <a:pPr lvl="3">
              <a:buFont typeface="Wingdings" panose="05000000000000000000" pitchFamily="2" charset="2"/>
              <a:buChar char="v"/>
            </a:pPr>
            <a:r>
              <a:rPr lang="en-IN" sz="2600" b="1" dirty="0">
                <a:solidFill>
                  <a:schemeClr val="bg1"/>
                </a:solidFill>
                <a:latin typeface="Cambria" panose="02040503050406030204" pitchFamily="18" charset="0"/>
              </a:rPr>
              <a:t>Office Supplies </a:t>
            </a:r>
            <a:r>
              <a:rPr lang="en-IN" sz="2600" dirty="0">
                <a:solidFill>
                  <a:schemeClr val="bg1"/>
                </a:solidFill>
                <a:latin typeface="Cambria" panose="02040503050406030204" pitchFamily="18" charset="0"/>
              </a:rPr>
              <a:t>(High volume, but lower profit per unit)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IN" sz="3000" dirty="0">
                <a:solidFill>
                  <a:schemeClr val="bg1"/>
                </a:solidFill>
                <a:latin typeface="Cambria" panose="02040503050406030204" pitchFamily="18" charset="0"/>
              </a:rPr>
              <a:t>Problematic categories:</a:t>
            </a:r>
          </a:p>
          <a:p>
            <a:pPr lvl="3">
              <a:buFont typeface="Wingdings" panose="05000000000000000000" pitchFamily="2" charset="2"/>
              <a:buChar char="v"/>
            </a:pPr>
            <a:r>
              <a:rPr lang="en-IN" sz="2600" b="1" dirty="0">
                <a:solidFill>
                  <a:schemeClr val="bg1"/>
                </a:solidFill>
                <a:latin typeface="Cambria" panose="02040503050406030204" pitchFamily="18" charset="0"/>
              </a:rPr>
              <a:t>Furniture</a:t>
            </a:r>
            <a:r>
              <a:rPr lang="en-IN" sz="2600" dirty="0">
                <a:solidFill>
                  <a:schemeClr val="bg1"/>
                </a:solidFill>
                <a:latin typeface="Cambria" panose="02040503050406030204" pitchFamily="18" charset="0"/>
              </a:rPr>
              <a:t> (especially Tables and Bookcases showing losses)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IN" sz="3000" dirty="0">
                <a:solidFill>
                  <a:schemeClr val="bg1"/>
                </a:solidFill>
                <a:latin typeface="Cambria" panose="02040503050406030204" pitchFamily="18" charset="0"/>
              </a:rPr>
              <a:t>Best-performing sub-categories:</a:t>
            </a:r>
          </a:p>
          <a:p>
            <a:pPr lvl="3">
              <a:buFont typeface="Wingdings" panose="05000000000000000000" pitchFamily="2" charset="2"/>
              <a:buChar char="v"/>
            </a:pPr>
            <a:r>
              <a:rPr lang="en-IN" sz="2600" b="1" dirty="0">
                <a:solidFill>
                  <a:schemeClr val="bg1"/>
                </a:solidFill>
                <a:latin typeface="Cambria" panose="02040503050406030204" pitchFamily="18" charset="0"/>
              </a:rPr>
              <a:t>Copiers, Phones</a:t>
            </a:r>
            <a:r>
              <a:rPr lang="en-IN" sz="2600" dirty="0">
                <a:solidFill>
                  <a:schemeClr val="bg1"/>
                </a:solidFill>
                <a:latin typeface="Cambria" panose="02040503050406030204" pitchFamily="18" charset="0"/>
              </a:rPr>
              <a:t>, and </a:t>
            </a:r>
            <a:r>
              <a:rPr lang="en-IN" sz="2600" b="1" dirty="0">
                <a:solidFill>
                  <a:schemeClr val="bg1"/>
                </a:solidFill>
                <a:latin typeface="Cambria" panose="02040503050406030204" pitchFamily="18" charset="0"/>
              </a:rPr>
              <a:t>Accessories</a:t>
            </a:r>
            <a:r>
              <a:rPr lang="en-IN" sz="2600" dirty="0">
                <a:solidFill>
                  <a:schemeClr val="bg1"/>
                </a:solidFill>
                <a:latin typeface="Cambria" panose="02040503050406030204" pitchFamily="18" charset="0"/>
              </a:rPr>
              <a:t> in Technology (Very profitable)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IN" sz="3000" dirty="0">
                <a:solidFill>
                  <a:schemeClr val="bg1"/>
                </a:solidFill>
                <a:latin typeface="Cambria" panose="02040503050406030204" pitchFamily="18" charset="0"/>
              </a:rPr>
              <a:t>Worst-performing sub-categories:</a:t>
            </a:r>
          </a:p>
          <a:p>
            <a:pPr lvl="3">
              <a:buFont typeface="Wingdings" panose="05000000000000000000" pitchFamily="2" charset="2"/>
              <a:buChar char="v"/>
            </a:pPr>
            <a:r>
              <a:rPr lang="en-IN" sz="2600" b="1" dirty="0">
                <a:solidFill>
                  <a:schemeClr val="bg1"/>
                </a:solidFill>
                <a:latin typeface="Cambria" panose="02040503050406030204" pitchFamily="18" charset="0"/>
              </a:rPr>
              <a:t>Tables, Bookcases, Supplies </a:t>
            </a:r>
            <a:r>
              <a:rPr lang="en-IN" sz="2600" dirty="0">
                <a:solidFill>
                  <a:schemeClr val="bg1"/>
                </a:solidFill>
                <a:latin typeface="Cambria" panose="02040503050406030204" pitchFamily="18" charset="0"/>
              </a:rPr>
              <a:t>(often negative profits)</a:t>
            </a:r>
          </a:p>
          <a:p>
            <a:endParaRPr lang="hi-IN" dirty="0"/>
          </a:p>
        </p:txBody>
      </p:sp>
    </p:spTree>
    <p:extLst>
      <p:ext uri="{BB962C8B-B14F-4D97-AF65-F5344CB8AC3E}">
        <p14:creationId xmlns:p14="http://schemas.microsoft.com/office/powerpoint/2010/main" val="7042697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Page 3 | powerpoint templates background HD wallpapers | Pxfuel">
            <a:extLst>
              <a:ext uri="{FF2B5EF4-FFF2-40B4-BE49-F238E27FC236}">
                <a16:creationId xmlns:a16="http://schemas.microsoft.com/office/drawing/2014/main" id="{C153FF8A-688D-AC09-7C5B-2DC9F15C2B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413" y="5365"/>
            <a:ext cx="12258825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B2D9A-A398-84F9-61EE-33CA6F66A2A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308803"/>
            <a:ext cx="10363826" cy="6549197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en-IN" b="1" u="sng" dirty="0">
                <a:solidFill>
                  <a:srgbClr val="FFFF00"/>
                </a:solidFill>
                <a:latin typeface="Cambria" panose="02040503050406030204" pitchFamily="18" charset="0"/>
              </a:rPr>
              <a:t>3. Regional Analysis</a:t>
            </a:r>
          </a:p>
          <a:p>
            <a:pPr marL="0" indent="0">
              <a:lnSpc>
                <a:spcPct val="80000"/>
              </a:lnSpc>
              <a:buNone/>
            </a:pPr>
            <a:endParaRPr lang="en-IN" b="1" u="sng" dirty="0">
              <a:solidFill>
                <a:srgbClr val="FFFF00"/>
              </a:solidFill>
              <a:latin typeface="Cambria" panose="02040503050406030204" pitchFamily="18" charset="0"/>
            </a:endParaRPr>
          </a:p>
          <a:p>
            <a:pPr lvl="2"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schemeClr val="bg1"/>
                </a:solidFill>
                <a:latin typeface="Cambria" panose="02040503050406030204" pitchFamily="18" charset="0"/>
              </a:rPr>
              <a:t>West and East</a:t>
            </a:r>
            <a:r>
              <a:rPr lang="en-IN" sz="2400" dirty="0">
                <a:solidFill>
                  <a:schemeClr val="bg1"/>
                </a:solidFill>
                <a:latin typeface="Cambria" panose="02040503050406030204" pitchFamily="18" charset="0"/>
              </a:rPr>
              <a:t> regions: Strongest in both </a:t>
            </a:r>
            <a:r>
              <a:rPr lang="en-IN" sz="2400" b="1" dirty="0">
                <a:solidFill>
                  <a:schemeClr val="bg1"/>
                </a:solidFill>
                <a:latin typeface="Cambria" panose="02040503050406030204" pitchFamily="18" charset="0"/>
              </a:rPr>
              <a:t>Sales and Profit</a:t>
            </a:r>
            <a:r>
              <a:rPr lang="en-IN" sz="2400" dirty="0">
                <a:solidFill>
                  <a:schemeClr val="bg1"/>
                </a:solidFill>
                <a:latin typeface="Cambria" panose="02040503050406030204" pitchFamily="18" charset="0"/>
              </a:rPr>
              <a:t>.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schemeClr val="bg1"/>
                </a:solidFill>
                <a:latin typeface="Cambria" panose="02040503050406030204" pitchFamily="18" charset="0"/>
              </a:rPr>
              <a:t>South and Central</a:t>
            </a:r>
            <a:r>
              <a:rPr lang="en-IN" sz="2400" dirty="0">
                <a:solidFill>
                  <a:schemeClr val="bg1"/>
                </a:solidFill>
                <a:latin typeface="Cambria" panose="02040503050406030204" pitchFamily="18" charset="0"/>
              </a:rPr>
              <a:t> regions: Struggle with </a:t>
            </a:r>
            <a:r>
              <a:rPr lang="en-IN" sz="2400" b="1" dirty="0">
                <a:solidFill>
                  <a:schemeClr val="bg1"/>
                </a:solidFill>
                <a:latin typeface="Cambria" panose="02040503050406030204" pitchFamily="18" charset="0"/>
              </a:rPr>
              <a:t>lower profit margins</a:t>
            </a:r>
            <a:r>
              <a:rPr lang="en-IN" sz="2400" dirty="0">
                <a:solidFill>
                  <a:schemeClr val="bg1"/>
                </a:solidFill>
                <a:latin typeface="Cambria" panose="02040503050406030204" pitchFamily="18" charset="0"/>
              </a:rPr>
              <a:t> even if sales are decent</a:t>
            </a:r>
            <a:r>
              <a:rPr lang="en-IN" dirty="0">
                <a:latin typeface="Cambria" panose="02040503050406030204" pitchFamily="18" charset="0"/>
              </a:rPr>
              <a:t>.</a:t>
            </a:r>
          </a:p>
          <a:p>
            <a:pPr marL="0" indent="0">
              <a:buNone/>
            </a:pPr>
            <a:r>
              <a:rPr lang="en-IN" b="1" u="sng" dirty="0">
                <a:solidFill>
                  <a:srgbClr val="FFFF00"/>
                </a:solidFill>
                <a:latin typeface="Cambria" panose="02040503050406030204" pitchFamily="18" charset="0"/>
              </a:rPr>
              <a:t>4. Customer Segment Insights</a:t>
            </a:r>
          </a:p>
          <a:p>
            <a:pPr marL="0" indent="0">
              <a:buNone/>
            </a:pPr>
            <a:endParaRPr lang="en-IN" b="1" u="sng" dirty="0">
              <a:solidFill>
                <a:srgbClr val="FFFF00"/>
              </a:solidFill>
              <a:latin typeface="Cambria" panose="02040503050406030204" pitchFamily="18" charset="0"/>
            </a:endParaRPr>
          </a:p>
          <a:p>
            <a:pPr lvl="2"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schemeClr val="bg1"/>
                </a:solidFill>
                <a:latin typeface="Cambria" panose="02040503050406030204" pitchFamily="18" charset="0"/>
              </a:rPr>
              <a:t>Corporate and Consumer</a:t>
            </a:r>
            <a:r>
              <a:rPr lang="en-IN" sz="2400" dirty="0">
                <a:solidFill>
                  <a:schemeClr val="bg1"/>
                </a:solidFill>
                <a:latin typeface="Cambria" panose="02040503050406030204" pitchFamily="18" charset="0"/>
              </a:rPr>
              <a:t> segments bring the most revenue.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schemeClr val="bg1"/>
                </a:solidFill>
                <a:latin typeface="Cambria" panose="02040503050406030204" pitchFamily="18" charset="0"/>
              </a:rPr>
              <a:t>Home Office</a:t>
            </a:r>
            <a:r>
              <a:rPr lang="en-IN" sz="2400" dirty="0">
                <a:solidFill>
                  <a:schemeClr val="bg1"/>
                </a:solidFill>
                <a:latin typeface="Cambria" panose="02040503050406030204" pitchFamily="18" charset="0"/>
              </a:rPr>
              <a:t> segment is </a:t>
            </a:r>
            <a:r>
              <a:rPr lang="en-IN" sz="2400" b="1" dirty="0">
                <a:solidFill>
                  <a:schemeClr val="bg1"/>
                </a:solidFill>
                <a:latin typeface="Cambria" panose="02040503050406030204" pitchFamily="18" charset="0"/>
              </a:rPr>
              <a:t>less profitable</a:t>
            </a:r>
            <a:r>
              <a:rPr lang="en-IN" sz="2400" dirty="0">
                <a:solidFill>
                  <a:schemeClr val="bg1"/>
                </a:solidFill>
                <a:latin typeface="Cambria" panose="02040503050406030204" pitchFamily="18" charset="0"/>
              </a:rPr>
              <a:t> and has </a:t>
            </a:r>
            <a:r>
              <a:rPr lang="en-IN" sz="2400" b="1" dirty="0">
                <a:solidFill>
                  <a:schemeClr val="bg1"/>
                </a:solidFill>
                <a:latin typeface="Cambria" panose="02040503050406030204" pitchFamily="18" charset="0"/>
              </a:rPr>
              <a:t>higher return rates</a:t>
            </a:r>
            <a:r>
              <a:rPr lang="en-IN" sz="2400" dirty="0">
                <a:solidFill>
                  <a:schemeClr val="bg1"/>
                </a:solidFill>
                <a:latin typeface="Cambria" panose="02040503050406030204" pitchFamily="18" charset="0"/>
              </a:rPr>
              <a:t> (more discounting and losses).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b="1" u="sng" dirty="0">
                <a:solidFill>
                  <a:srgbClr val="FFFF00"/>
                </a:solidFill>
                <a:latin typeface="Cambria" panose="02040503050406030204" pitchFamily="18" charset="0"/>
              </a:rPr>
              <a:t>5. Discounting Impact</a:t>
            </a:r>
          </a:p>
          <a:p>
            <a:pPr marL="0" indent="0">
              <a:lnSpc>
                <a:spcPct val="100000"/>
              </a:lnSpc>
              <a:buNone/>
            </a:pPr>
            <a:endParaRPr lang="en-IN" b="1" u="sng" dirty="0">
              <a:solidFill>
                <a:srgbClr val="FFFF00"/>
              </a:solidFill>
              <a:latin typeface="Cambria" panose="02040503050406030204" pitchFamily="18" charset="0"/>
            </a:endParaRPr>
          </a:p>
          <a:p>
            <a:pPr lvl="2"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schemeClr val="bg1"/>
                </a:solidFill>
                <a:latin typeface="Cambria" panose="02040503050406030204" pitchFamily="18" charset="0"/>
              </a:rPr>
              <a:t>Heavy discounts</a:t>
            </a:r>
            <a:r>
              <a:rPr lang="en-IN" sz="2400" dirty="0">
                <a:solidFill>
                  <a:schemeClr val="bg1"/>
                </a:solidFill>
                <a:latin typeface="Cambria" panose="02040503050406030204" pitchFamily="18" charset="0"/>
              </a:rPr>
              <a:t> often lead to </a:t>
            </a:r>
            <a:r>
              <a:rPr lang="en-IN" sz="2400" b="1" dirty="0">
                <a:solidFill>
                  <a:schemeClr val="bg1"/>
                </a:solidFill>
                <a:latin typeface="Cambria" panose="02040503050406030204" pitchFamily="18" charset="0"/>
              </a:rPr>
              <a:t>profit losses</a:t>
            </a:r>
            <a:r>
              <a:rPr lang="en-IN" sz="2400" dirty="0">
                <a:solidFill>
                  <a:schemeClr val="bg1"/>
                </a:solidFill>
                <a:latin typeface="Cambria" panose="02040503050406030204" pitchFamily="18" charset="0"/>
              </a:rPr>
              <a:t>.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bg1"/>
                </a:solidFill>
                <a:latin typeface="Cambria" panose="02040503050406030204" pitchFamily="18" charset="0"/>
              </a:rPr>
              <a:t>Particularly in </a:t>
            </a:r>
            <a:r>
              <a:rPr lang="en-IN" sz="2400" b="1" dirty="0">
                <a:solidFill>
                  <a:schemeClr val="bg1"/>
                </a:solidFill>
                <a:latin typeface="Cambria" panose="02040503050406030204" pitchFamily="18" charset="0"/>
              </a:rPr>
              <a:t>Furniture</a:t>
            </a:r>
            <a:r>
              <a:rPr lang="en-IN" sz="2400" dirty="0">
                <a:solidFill>
                  <a:schemeClr val="bg1"/>
                </a:solidFill>
                <a:latin typeface="Cambria" panose="02040503050406030204" pitchFamily="18" charset="0"/>
              </a:rPr>
              <a:t> and </a:t>
            </a:r>
            <a:r>
              <a:rPr lang="en-IN" sz="2400" b="1" dirty="0">
                <a:solidFill>
                  <a:schemeClr val="bg1"/>
                </a:solidFill>
                <a:latin typeface="Cambria" panose="02040503050406030204" pitchFamily="18" charset="0"/>
              </a:rPr>
              <a:t>Office Supplies</a:t>
            </a:r>
            <a:r>
              <a:rPr lang="en-IN" sz="2400" dirty="0">
                <a:solidFill>
                  <a:schemeClr val="bg1"/>
                </a:solidFill>
                <a:latin typeface="Cambria" panose="02040503050406030204" pitchFamily="18" charset="0"/>
              </a:rPr>
              <a:t>, high discounts are killing margins.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bg1"/>
                </a:solidFill>
                <a:latin typeface="Cambria" panose="02040503050406030204" pitchFamily="18" charset="0"/>
              </a:rPr>
              <a:t>There’s a </a:t>
            </a:r>
            <a:r>
              <a:rPr lang="en-IN" sz="2400" b="1" dirty="0">
                <a:solidFill>
                  <a:schemeClr val="bg1"/>
                </a:solidFill>
                <a:latin typeface="Cambria" panose="02040503050406030204" pitchFamily="18" charset="0"/>
              </a:rPr>
              <a:t>clear negative correlation</a:t>
            </a:r>
            <a:r>
              <a:rPr lang="en-IN" sz="2400" dirty="0">
                <a:solidFill>
                  <a:schemeClr val="bg1"/>
                </a:solidFill>
                <a:latin typeface="Cambria" panose="02040503050406030204" pitchFamily="18" charset="0"/>
              </a:rPr>
              <a:t> between </a:t>
            </a:r>
            <a:r>
              <a:rPr lang="en-IN" sz="2400" b="1" dirty="0">
                <a:solidFill>
                  <a:schemeClr val="bg1"/>
                </a:solidFill>
                <a:latin typeface="Cambria" panose="02040503050406030204" pitchFamily="18" charset="0"/>
              </a:rPr>
              <a:t>discounts</a:t>
            </a:r>
            <a:r>
              <a:rPr lang="en-IN" sz="2400" dirty="0">
                <a:solidFill>
                  <a:schemeClr val="bg1"/>
                </a:solidFill>
                <a:latin typeface="Cambria" panose="02040503050406030204" pitchFamily="18" charset="0"/>
              </a:rPr>
              <a:t> and </a:t>
            </a:r>
            <a:r>
              <a:rPr lang="en-IN" sz="2400" b="1" dirty="0">
                <a:solidFill>
                  <a:schemeClr val="bg1"/>
                </a:solidFill>
                <a:latin typeface="Cambria" panose="02040503050406030204" pitchFamily="18" charset="0"/>
              </a:rPr>
              <a:t>profits</a:t>
            </a:r>
            <a:r>
              <a:rPr lang="en-IN" sz="2400" dirty="0">
                <a:solidFill>
                  <a:schemeClr val="bg1"/>
                </a:solidFill>
              </a:rPr>
              <a:t>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IN" b="1" u="sng" dirty="0">
                <a:solidFill>
                  <a:srgbClr val="FFFF00"/>
                </a:solidFill>
                <a:latin typeface="Cambria" panose="02040503050406030204" pitchFamily="18" charset="0"/>
              </a:rPr>
              <a:t>6. Shipping Modes</a:t>
            </a:r>
          </a:p>
          <a:p>
            <a:pPr marL="0" indent="0">
              <a:lnSpc>
                <a:spcPct val="110000"/>
              </a:lnSpc>
              <a:buNone/>
            </a:pPr>
            <a:endParaRPr lang="en-IN" b="1" u="sng" dirty="0">
              <a:solidFill>
                <a:srgbClr val="FFFF00"/>
              </a:solidFill>
              <a:latin typeface="Cambria" panose="02040503050406030204" pitchFamily="18" charset="0"/>
            </a:endParaRPr>
          </a:p>
          <a:p>
            <a:pPr lvl="2"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schemeClr val="bg1"/>
                </a:solidFill>
                <a:latin typeface="Cambria" panose="02040503050406030204" pitchFamily="18" charset="0"/>
              </a:rPr>
              <a:t>Same Day Shipping</a:t>
            </a:r>
            <a:r>
              <a:rPr lang="en-IN" sz="2400" dirty="0">
                <a:solidFill>
                  <a:schemeClr val="bg1"/>
                </a:solidFill>
                <a:latin typeface="Cambria" panose="02040503050406030204" pitchFamily="18" charset="0"/>
              </a:rPr>
              <a:t> is </a:t>
            </a:r>
            <a:r>
              <a:rPr lang="en-IN" sz="2400" b="1" dirty="0">
                <a:solidFill>
                  <a:schemeClr val="bg1"/>
                </a:solidFill>
                <a:latin typeface="Cambria" panose="02040503050406030204" pitchFamily="18" charset="0"/>
              </a:rPr>
              <a:t>costlier</a:t>
            </a:r>
            <a:r>
              <a:rPr lang="en-IN" sz="2400" dirty="0">
                <a:solidFill>
                  <a:schemeClr val="bg1"/>
                </a:solidFill>
                <a:latin typeface="Cambria" panose="02040503050406030204" pitchFamily="18" charset="0"/>
              </a:rPr>
              <a:t> and </a:t>
            </a:r>
            <a:r>
              <a:rPr lang="en-IN" sz="2400" b="1" dirty="0">
                <a:solidFill>
                  <a:schemeClr val="bg1"/>
                </a:solidFill>
                <a:latin typeface="Cambria" panose="02040503050406030204" pitchFamily="18" charset="0"/>
              </a:rPr>
              <a:t>less profitable</a:t>
            </a:r>
            <a:r>
              <a:rPr lang="en-IN" sz="2400" dirty="0">
                <a:solidFill>
                  <a:schemeClr val="bg1"/>
                </a:solidFill>
                <a:latin typeface="Cambria" panose="02040503050406030204" pitchFamily="18" charset="0"/>
              </a:rPr>
              <a:t>.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schemeClr val="bg1"/>
                </a:solidFill>
                <a:latin typeface="Cambria" panose="02040503050406030204" pitchFamily="18" charset="0"/>
              </a:rPr>
              <a:t>Standard Class Shipping</a:t>
            </a:r>
            <a:r>
              <a:rPr lang="en-IN" sz="2400" dirty="0">
                <a:solidFill>
                  <a:schemeClr val="bg1"/>
                </a:solidFill>
                <a:latin typeface="Cambria" panose="02040503050406030204" pitchFamily="18" charset="0"/>
              </a:rPr>
              <a:t> gives </a:t>
            </a:r>
            <a:r>
              <a:rPr lang="en-IN" sz="2400" b="1" dirty="0">
                <a:solidFill>
                  <a:schemeClr val="bg1"/>
                </a:solidFill>
                <a:latin typeface="Cambria" panose="02040503050406030204" pitchFamily="18" charset="0"/>
              </a:rPr>
              <a:t>better profitability</a:t>
            </a:r>
            <a:r>
              <a:rPr lang="en-IN" sz="2400" dirty="0">
                <a:solidFill>
                  <a:schemeClr val="bg1"/>
                </a:solidFill>
                <a:latin typeface="Cambria" panose="02040503050406030204" pitchFamily="18" charset="0"/>
              </a:rPr>
              <a:t> overall</a:t>
            </a:r>
            <a:r>
              <a:rPr lang="en-IN" dirty="0">
                <a:solidFill>
                  <a:schemeClr val="bg1"/>
                </a:solidFill>
                <a:latin typeface="Cambria" panose="02040503050406030204" pitchFamily="18" charset="0"/>
              </a:rPr>
              <a:t>.</a:t>
            </a:r>
          </a:p>
          <a:p>
            <a:pPr lvl="2">
              <a:buFont typeface="Wingdings" panose="05000000000000000000" pitchFamily="2" charset="2"/>
              <a:buChar char="Ø"/>
            </a:pPr>
            <a:endParaRPr lang="en-IN" dirty="0">
              <a:solidFill>
                <a:schemeClr val="bg1"/>
              </a:solidFill>
              <a:latin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IN" dirty="0"/>
          </a:p>
          <a:p>
            <a:pPr lvl="1">
              <a:buFont typeface="Wingdings" panose="05000000000000000000" pitchFamily="2" charset="2"/>
              <a:buChar char="Ø"/>
            </a:pPr>
            <a:endParaRPr lang="en-IN" dirty="0"/>
          </a:p>
          <a:p>
            <a:endParaRPr lang="hi-IN" dirty="0"/>
          </a:p>
        </p:txBody>
      </p:sp>
    </p:spTree>
    <p:extLst>
      <p:ext uri="{BB962C8B-B14F-4D97-AF65-F5344CB8AC3E}">
        <p14:creationId xmlns:p14="http://schemas.microsoft.com/office/powerpoint/2010/main" val="11361404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Page 3 | powerpoint templates background HD wallpapers | Pxfuel">
            <a:extLst>
              <a:ext uri="{FF2B5EF4-FFF2-40B4-BE49-F238E27FC236}">
                <a16:creationId xmlns:a16="http://schemas.microsoft.com/office/drawing/2014/main" id="{F8D58C30-6097-1FD0-25DB-99C753E97C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413" y="5365"/>
            <a:ext cx="12258825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6A9FB7F9-40BE-5B6F-547D-506962063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671" y="723293"/>
            <a:ext cx="10235381" cy="146862"/>
          </a:xfrm>
        </p:spPr>
        <p:txBody>
          <a:bodyPr>
            <a:noAutofit/>
          </a:bodyPr>
          <a:lstStyle/>
          <a:p>
            <a:pPr algn="ctr"/>
            <a:r>
              <a:rPr lang="en-IN" sz="3600" b="1" dirty="0">
                <a:solidFill>
                  <a:srgbClr val="FF0000"/>
                </a:solidFill>
                <a:latin typeface="Cambria" panose="02040503050406030204" pitchFamily="18" charset="0"/>
              </a:rPr>
              <a:t>Recommendations to Improve Sales and Profits</a:t>
            </a:r>
            <a:r>
              <a:rPr lang="hi-IN" sz="1050" dirty="0">
                <a:solidFill>
                  <a:srgbClr val="FF0000"/>
                </a:solidFill>
                <a:latin typeface="Cambria" panose="02040503050406030204" pitchFamily="18" charset="0"/>
              </a:rPr>
              <a:t> </a:t>
            </a:r>
            <a:endParaRPr lang="hi-IN" sz="3600" b="1" dirty="0">
              <a:solidFill>
                <a:srgbClr val="FF0000"/>
              </a:solidFill>
              <a:latin typeface="Cambria" panose="02040503050406030204" pitchFamily="18" charset="0"/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A36A1C8-7B8D-2924-5D8C-F5574D9E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5063" y="1092625"/>
            <a:ext cx="10693207" cy="5588394"/>
          </a:xfrm>
        </p:spPr>
        <p:txBody>
          <a:bodyPr>
            <a:normAutofit lnSpcReduction="10000"/>
          </a:bodyPr>
          <a:lstStyle/>
          <a:p>
            <a:pPr marL="514350" indent="-514350">
              <a:buAutoNum type="arabicPeriod"/>
            </a:pPr>
            <a:r>
              <a:rPr lang="en-IN" sz="2800" b="1" u="sng" dirty="0">
                <a:solidFill>
                  <a:srgbClr val="FFFF00"/>
                </a:solidFill>
                <a:latin typeface="Cambria" panose="02040503050406030204" pitchFamily="18" charset="0"/>
              </a:rPr>
              <a:t>Reconsider or Optimize Problem Sub-Categories</a:t>
            </a:r>
          </a:p>
          <a:p>
            <a:endParaRPr lang="en-IN" sz="2800" b="1" u="sng" dirty="0">
              <a:solidFill>
                <a:srgbClr val="FFFF00"/>
              </a:solidFill>
              <a:latin typeface="Cambria" panose="02040503050406030204" pitchFamily="18" charset="0"/>
            </a:endParaRP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bg1"/>
                </a:solidFill>
                <a:latin typeface="Cambria" panose="02040503050406030204" pitchFamily="18" charset="0"/>
              </a:rPr>
              <a:t>Reduce focus on low-profit items like </a:t>
            </a:r>
            <a:r>
              <a:rPr lang="en-IN" sz="2400" b="1" dirty="0">
                <a:solidFill>
                  <a:schemeClr val="bg1"/>
                </a:solidFill>
                <a:latin typeface="Cambria" panose="02040503050406030204" pitchFamily="18" charset="0"/>
              </a:rPr>
              <a:t>Tables</a:t>
            </a:r>
            <a:r>
              <a:rPr lang="en-IN" sz="2400" dirty="0">
                <a:solidFill>
                  <a:schemeClr val="bg1"/>
                </a:solidFill>
                <a:latin typeface="Cambria" panose="02040503050406030204" pitchFamily="18" charset="0"/>
              </a:rPr>
              <a:t> and </a:t>
            </a:r>
            <a:r>
              <a:rPr lang="en-IN" sz="2400" b="1" dirty="0">
                <a:solidFill>
                  <a:schemeClr val="bg1"/>
                </a:solidFill>
                <a:latin typeface="Cambria" panose="02040503050406030204" pitchFamily="18" charset="0"/>
              </a:rPr>
              <a:t>Bookcases</a:t>
            </a:r>
            <a:r>
              <a:rPr lang="en-IN" sz="2400" dirty="0">
                <a:solidFill>
                  <a:schemeClr val="bg1"/>
                </a:solidFill>
                <a:latin typeface="Cambria" panose="02040503050406030204" pitchFamily="18" charset="0"/>
              </a:rPr>
              <a:t>.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bg1"/>
                </a:solidFill>
                <a:latin typeface="Cambria" panose="02040503050406030204" pitchFamily="18" charset="0"/>
              </a:rPr>
              <a:t>Negotiate better supplier deals or increase prices for those sub-categories.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bg1"/>
                </a:solidFill>
                <a:latin typeface="Cambria" panose="02040503050406030204" pitchFamily="18" charset="0"/>
              </a:rPr>
              <a:t>Consider </a:t>
            </a:r>
            <a:r>
              <a:rPr lang="en-IN" sz="2400" b="1" dirty="0">
                <a:solidFill>
                  <a:schemeClr val="bg1"/>
                </a:solidFill>
                <a:latin typeface="Cambria" panose="02040503050406030204" pitchFamily="18" charset="0"/>
              </a:rPr>
              <a:t>phasing out or bundling</a:t>
            </a:r>
            <a:r>
              <a:rPr lang="en-IN" sz="2400" dirty="0">
                <a:solidFill>
                  <a:schemeClr val="bg1"/>
                </a:solidFill>
                <a:latin typeface="Cambria" panose="02040503050406030204" pitchFamily="18" charset="0"/>
              </a:rPr>
              <a:t> these products to reduce their losses.</a:t>
            </a:r>
            <a:endParaRPr lang="en-IN" sz="2200" dirty="0">
              <a:solidFill>
                <a:schemeClr val="bg1"/>
              </a:solidFill>
              <a:latin typeface="Cambria" panose="02040503050406030204" pitchFamily="18" charset="0"/>
            </a:endParaRPr>
          </a:p>
          <a:p>
            <a:r>
              <a:rPr lang="en-IN" sz="2800" b="1" u="sng" dirty="0">
                <a:solidFill>
                  <a:srgbClr val="FFFF00"/>
                </a:solidFill>
                <a:latin typeface="Cambria" panose="02040503050406030204" pitchFamily="18" charset="0"/>
              </a:rPr>
              <a:t>2. Control Discounts</a:t>
            </a:r>
          </a:p>
          <a:p>
            <a:endParaRPr lang="en-IN" sz="2800" b="1" u="sng" dirty="0">
              <a:solidFill>
                <a:srgbClr val="FFFF00"/>
              </a:solidFill>
              <a:latin typeface="Cambria" panose="02040503050406030204" pitchFamily="18" charset="0"/>
            </a:endParaRP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bg1"/>
                </a:solidFill>
                <a:latin typeface="Cambria" panose="02040503050406030204" pitchFamily="18" charset="0"/>
              </a:rPr>
              <a:t>Implement </a:t>
            </a:r>
            <a:r>
              <a:rPr lang="en-IN" sz="2400" b="1" dirty="0">
                <a:solidFill>
                  <a:schemeClr val="bg1"/>
                </a:solidFill>
                <a:latin typeface="Cambria" panose="02040503050406030204" pitchFamily="18" charset="0"/>
              </a:rPr>
              <a:t>stricter discounting policies</a:t>
            </a:r>
            <a:r>
              <a:rPr lang="en-IN" sz="2400" dirty="0">
                <a:solidFill>
                  <a:schemeClr val="bg1"/>
                </a:solidFill>
                <a:latin typeface="Cambria" panose="02040503050406030204" pitchFamily="18" charset="0"/>
              </a:rPr>
              <a:t>.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bg1"/>
                </a:solidFill>
                <a:latin typeface="Cambria" panose="02040503050406030204" pitchFamily="18" charset="0"/>
              </a:rPr>
              <a:t>Target discounts only on </a:t>
            </a:r>
            <a:r>
              <a:rPr lang="en-IN" sz="2400" b="1" dirty="0">
                <a:solidFill>
                  <a:schemeClr val="bg1"/>
                </a:solidFill>
                <a:latin typeface="Cambria" panose="02040503050406030204" pitchFamily="18" charset="0"/>
              </a:rPr>
              <a:t>high-margin items</a:t>
            </a:r>
            <a:r>
              <a:rPr lang="en-IN" sz="2400" dirty="0">
                <a:solidFill>
                  <a:schemeClr val="bg1"/>
                </a:solidFill>
                <a:latin typeface="Cambria" panose="02040503050406030204" pitchFamily="18" charset="0"/>
              </a:rPr>
              <a:t> to </a:t>
            </a:r>
            <a:r>
              <a:rPr lang="en-IN" sz="2400" b="1" dirty="0">
                <a:solidFill>
                  <a:schemeClr val="bg1"/>
                </a:solidFill>
                <a:latin typeface="Cambria" panose="02040503050406030204" pitchFamily="18" charset="0"/>
              </a:rPr>
              <a:t>boost profits</a:t>
            </a:r>
            <a:r>
              <a:rPr lang="en-IN" sz="2400" dirty="0">
                <a:solidFill>
                  <a:schemeClr val="bg1"/>
                </a:solidFill>
                <a:latin typeface="Cambria" panose="02040503050406030204" pitchFamily="18" charset="0"/>
              </a:rPr>
              <a:t> without harming revenue.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bg1"/>
                </a:solidFill>
                <a:latin typeface="Cambria" panose="02040503050406030204" pitchFamily="18" charset="0"/>
              </a:rPr>
              <a:t>Analyse </a:t>
            </a:r>
            <a:r>
              <a:rPr lang="en-IN" sz="2400" b="1" dirty="0">
                <a:solidFill>
                  <a:schemeClr val="bg1"/>
                </a:solidFill>
                <a:latin typeface="Cambria" panose="02040503050406030204" pitchFamily="18" charset="0"/>
              </a:rPr>
              <a:t>discount thresholds</a:t>
            </a:r>
            <a:r>
              <a:rPr lang="en-IN" sz="2400" dirty="0">
                <a:solidFill>
                  <a:schemeClr val="bg1"/>
                </a:solidFill>
                <a:latin typeface="Cambria" panose="02040503050406030204" pitchFamily="18" charset="0"/>
              </a:rPr>
              <a:t> — above a certain % discount, many deals become loss-making.</a:t>
            </a:r>
          </a:p>
          <a:p>
            <a:endParaRPr lang="hi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5D3616-807D-74AE-9962-D64A85C6AE52}"/>
              </a:ext>
            </a:extLst>
          </p:cNvPr>
          <p:cNvSpPr txBox="1"/>
          <p:nvPr/>
        </p:nvSpPr>
        <p:spPr>
          <a:xfrm>
            <a:off x="10777383" y="353961"/>
            <a:ext cx="706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i-IN" dirty="0"/>
              <a:t>🚀</a:t>
            </a:r>
          </a:p>
        </p:txBody>
      </p:sp>
    </p:spTree>
    <p:extLst>
      <p:ext uri="{BB962C8B-B14F-4D97-AF65-F5344CB8AC3E}">
        <p14:creationId xmlns:p14="http://schemas.microsoft.com/office/powerpoint/2010/main" val="4523095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Page 3 | powerpoint templates background HD wallpapers | Pxfuel">
            <a:extLst>
              <a:ext uri="{FF2B5EF4-FFF2-40B4-BE49-F238E27FC236}">
                <a16:creationId xmlns:a16="http://schemas.microsoft.com/office/drawing/2014/main" id="{7CE45D21-1A30-F10E-7D91-2C2A02A6DC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413" y="5365"/>
            <a:ext cx="12258825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CE810B-DA57-3262-8499-BB9031D01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35974"/>
            <a:ext cx="10515600" cy="6312310"/>
          </a:xfrm>
        </p:spPr>
        <p:txBody>
          <a:bodyPr>
            <a:normAutofit fontScale="92500" lnSpcReduction="10000"/>
          </a:bodyPr>
          <a:lstStyle/>
          <a:p>
            <a:r>
              <a:rPr lang="en-IN" sz="2800" b="1" u="sng" dirty="0">
                <a:solidFill>
                  <a:srgbClr val="FFFF00"/>
                </a:solidFill>
                <a:latin typeface="Cambria" panose="02040503050406030204" pitchFamily="18" charset="0"/>
              </a:rPr>
              <a:t>3. Regional Sales Strategy</a:t>
            </a:r>
          </a:p>
          <a:p>
            <a:endParaRPr lang="en-IN" sz="2800" b="1" u="sng" dirty="0">
              <a:solidFill>
                <a:srgbClr val="FFFF00"/>
              </a:solidFill>
              <a:latin typeface="Cambria" panose="02040503050406030204" pitchFamily="18" charset="0"/>
            </a:endParaRP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bg1"/>
                </a:solidFill>
                <a:latin typeface="Cambria" panose="02040503050406030204" pitchFamily="18" charset="0"/>
              </a:rPr>
              <a:t>Invest more in </a:t>
            </a:r>
            <a:r>
              <a:rPr lang="en-IN" sz="2400" b="1" dirty="0">
                <a:solidFill>
                  <a:schemeClr val="bg1"/>
                </a:solidFill>
                <a:latin typeface="Cambria" panose="02040503050406030204" pitchFamily="18" charset="0"/>
              </a:rPr>
              <a:t>West and East</a:t>
            </a:r>
            <a:r>
              <a:rPr lang="en-IN" sz="2400" dirty="0">
                <a:solidFill>
                  <a:schemeClr val="bg1"/>
                </a:solidFill>
                <a:latin typeface="Cambria" panose="02040503050406030204" pitchFamily="18" charset="0"/>
              </a:rPr>
              <a:t> regions (where customers are profitable).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bg1"/>
                </a:solidFill>
                <a:latin typeface="Cambria" panose="02040503050406030204" pitchFamily="18" charset="0"/>
              </a:rPr>
              <a:t>Develop </a:t>
            </a:r>
            <a:r>
              <a:rPr lang="en-IN" sz="2400" b="1" dirty="0">
                <a:solidFill>
                  <a:schemeClr val="bg1"/>
                </a:solidFill>
                <a:latin typeface="Cambria" panose="02040503050406030204" pitchFamily="18" charset="0"/>
              </a:rPr>
              <a:t>regional promotions</a:t>
            </a:r>
            <a:r>
              <a:rPr lang="en-IN" sz="2400" dirty="0">
                <a:solidFill>
                  <a:schemeClr val="bg1"/>
                </a:solidFill>
                <a:latin typeface="Cambria" panose="02040503050406030204" pitchFamily="18" charset="0"/>
              </a:rPr>
              <a:t> tailored for </a:t>
            </a:r>
            <a:r>
              <a:rPr lang="en-IN" sz="2400" b="1" dirty="0">
                <a:solidFill>
                  <a:schemeClr val="bg1"/>
                </a:solidFill>
                <a:latin typeface="Cambria" panose="02040503050406030204" pitchFamily="18" charset="0"/>
              </a:rPr>
              <a:t>South and Central</a:t>
            </a:r>
            <a:r>
              <a:rPr lang="en-IN" sz="2400" dirty="0">
                <a:solidFill>
                  <a:schemeClr val="bg1"/>
                </a:solidFill>
                <a:latin typeface="Cambria" panose="02040503050406030204" pitchFamily="18" charset="0"/>
              </a:rPr>
              <a:t> to increase loyalty without heavy discounting</a:t>
            </a:r>
            <a:r>
              <a:rPr lang="en-I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</a:rPr>
              <a:t>.</a:t>
            </a:r>
          </a:p>
          <a:p>
            <a:r>
              <a:rPr lang="en-IN" sz="2800" b="1" u="sng" dirty="0">
                <a:solidFill>
                  <a:srgbClr val="FFFF00"/>
                </a:solidFill>
                <a:latin typeface="Cambria" panose="02040503050406030204" pitchFamily="18" charset="0"/>
              </a:rPr>
              <a:t>4. Focus on High-Profit Sub-Categories</a:t>
            </a:r>
          </a:p>
          <a:p>
            <a:endParaRPr lang="en-IN" sz="2800" b="1" u="sng" dirty="0">
              <a:solidFill>
                <a:srgbClr val="FFFF00"/>
              </a:solidFill>
              <a:latin typeface="Cambria" panose="02040503050406030204" pitchFamily="18" charset="0"/>
            </a:endParaRP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bg1"/>
                </a:solidFill>
                <a:latin typeface="Cambria" panose="02040503050406030204" pitchFamily="18" charset="0"/>
              </a:rPr>
              <a:t>Prioritize marketing for </a:t>
            </a:r>
            <a:r>
              <a:rPr lang="en-IN" sz="2400" b="1" dirty="0">
                <a:solidFill>
                  <a:schemeClr val="bg1"/>
                </a:solidFill>
                <a:latin typeface="Cambria" panose="02040503050406030204" pitchFamily="18" charset="0"/>
              </a:rPr>
              <a:t>Technology</a:t>
            </a:r>
            <a:r>
              <a:rPr lang="en-IN" sz="2400" dirty="0">
                <a:solidFill>
                  <a:schemeClr val="bg1"/>
                </a:solidFill>
                <a:latin typeface="Cambria" panose="02040503050406030204" pitchFamily="18" charset="0"/>
              </a:rPr>
              <a:t> products (Phones, Accessories, Copiers).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bg1"/>
                </a:solidFill>
                <a:latin typeface="Cambria" panose="02040503050406030204" pitchFamily="18" charset="0"/>
              </a:rPr>
              <a:t>Upsell or cross-sell </a:t>
            </a:r>
            <a:r>
              <a:rPr lang="en-IN" sz="2400" b="1" dirty="0">
                <a:solidFill>
                  <a:schemeClr val="bg1"/>
                </a:solidFill>
                <a:latin typeface="Cambria" panose="02040503050406030204" pitchFamily="18" charset="0"/>
              </a:rPr>
              <a:t>high-margin accessories</a:t>
            </a:r>
            <a:r>
              <a:rPr lang="en-IN" sz="2400" dirty="0">
                <a:solidFill>
                  <a:schemeClr val="bg1"/>
                </a:solidFill>
                <a:latin typeface="Cambria" panose="02040503050406030204" pitchFamily="18" charset="0"/>
              </a:rPr>
              <a:t> when selling lower-margin items.</a:t>
            </a:r>
          </a:p>
          <a:p>
            <a:r>
              <a:rPr lang="en-IN" sz="2800" b="1" u="sng" dirty="0">
                <a:solidFill>
                  <a:srgbClr val="FFFF00"/>
                </a:solidFill>
                <a:latin typeface="Cambria" panose="02040503050406030204" pitchFamily="18" charset="0"/>
              </a:rPr>
              <a:t>5.Shipping Strategy</a:t>
            </a:r>
          </a:p>
          <a:p>
            <a:endParaRPr lang="en-IN" sz="2800" b="1" u="sng" dirty="0">
              <a:solidFill>
                <a:srgbClr val="FFFF00"/>
              </a:solidFill>
              <a:latin typeface="Cambria" panose="02040503050406030204" pitchFamily="18" charset="0"/>
            </a:endParaRP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bg1"/>
                </a:solidFill>
                <a:latin typeface="Cambria" panose="02040503050406030204" pitchFamily="18" charset="0"/>
              </a:rPr>
              <a:t>Promote </a:t>
            </a:r>
            <a:r>
              <a:rPr lang="en-IN" sz="2400" b="1" dirty="0">
                <a:solidFill>
                  <a:schemeClr val="bg1"/>
                </a:solidFill>
                <a:latin typeface="Cambria" panose="02040503050406030204" pitchFamily="18" charset="0"/>
              </a:rPr>
              <a:t>Standard Class Shipping</a:t>
            </a:r>
            <a:r>
              <a:rPr lang="en-IN" sz="2400" dirty="0">
                <a:solidFill>
                  <a:schemeClr val="bg1"/>
                </a:solidFill>
                <a:latin typeface="Cambria" panose="02040503050406030204" pitchFamily="18" charset="0"/>
              </a:rPr>
              <a:t> more often (especially for Home Office customers).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bg1"/>
                </a:solidFill>
                <a:latin typeface="Cambria" panose="02040503050406030204" pitchFamily="18" charset="0"/>
              </a:rPr>
              <a:t>Introduce </a:t>
            </a:r>
            <a:r>
              <a:rPr lang="en-IN" sz="2400" b="1" dirty="0">
                <a:solidFill>
                  <a:schemeClr val="bg1"/>
                </a:solidFill>
                <a:latin typeface="Cambria" panose="02040503050406030204" pitchFamily="18" charset="0"/>
              </a:rPr>
              <a:t>free shipping thresholds</a:t>
            </a:r>
            <a:r>
              <a:rPr lang="en-IN" sz="2400" dirty="0">
                <a:solidFill>
                  <a:schemeClr val="bg1"/>
                </a:solidFill>
                <a:latin typeface="Cambria" panose="02040503050406030204" pitchFamily="18" charset="0"/>
              </a:rPr>
              <a:t> to push up order sizes without killing profit margins.</a:t>
            </a:r>
          </a:p>
          <a:p>
            <a:endParaRPr lang="hi-IN" dirty="0"/>
          </a:p>
        </p:txBody>
      </p:sp>
    </p:spTree>
    <p:extLst>
      <p:ext uri="{BB962C8B-B14F-4D97-AF65-F5344CB8AC3E}">
        <p14:creationId xmlns:p14="http://schemas.microsoft.com/office/powerpoint/2010/main" val="33594431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Page 3 | powerpoint templates background HD wallpapers | Pxfuel">
            <a:extLst>
              <a:ext uri="{FF2B5EF4-FFF2-40B4-BE49-F238E27FC236}">
                <a16:creationId xmlns:a16="http://schemas.microsoft.com/office/drawing/2014/main" id="{549A9C09-D258-931D-7C48-69D2BB8212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413" y="5365"/>
            <a:ext cx="12258825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403A0-298A-45E3-FC63-0CCCCF0F3F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0219"/>
            <a:ext cx="10515600" cy="5896744"/>
          </a:xfrm>
        </p:spPr>
        <p:txBody>
          <a:bodyPr/>
          <a:lstStyle/>
          <a:p>
            <a:pPr marL="0" indent="0">
              <a:buNone/>
            </a:pPr>
            <a:r>
              <a:rPr lang="en-IN" b="1" u="sng" dirty="0">
                <a:solidFill>
                  <a:srgbClr val="FFFF00"/>
                </a:solidFill>
                <a:latin typeface="Cambria" panose="02040503050406030204" pitchFamily="18" charset="0"/>
              </a:rPr>
              <a:t>6. Customer Segment Focus</a:t>
            </a:r>
          </a:p>
          <a:p>
            <a:pPr marL="0" indent="0">
              <a:buNone/>
            </a:pPr>
            <a:endParaRPr lang="en-IN" b="1" u="sng" dirty="0">
              <a:solidFill>
                <a:srgbClr val="FFFF00"/>
              </a:solidFill>
              <a:latin typeface="Cambria" panose="02040503050406030204" pitchFamily="18" charset="0"/>
            </a:endParaRPr>
          </a:p>
          <a:p>
            <a:pPr lvl="2">
              <a:buFont typeface="Wingdings" panose="05000000000000000000" pitchFamily="2" charset="2"/>
              <a:buChar char="Ø"/>
            </a:pPr>
            <a:r>
              <a:rPr lang="en-IN" sz="2800" b="1" dirty="0">
                <a:solidFill>
                  <a:schemeClr val="bg1"/>
                </a:solidFill>
                <a:latin typeface="Cambria" panose="02040503050406030204" pitchFamily="18" charset="0"/>
              </a:rPr>
              <a:t>Home Office</a:t>
            </a:r>
            <a:r>
              <a:rPr lang="en-IN" sz="2800" dirty="0">
                <a:solidFill>
                  <a:schemeClr val="bg1"/>
                </a:solidFill>
                <a:latin typeface="Cambria" panose="02040503050406030204" pitchFamily="18" charset="0"/>
              </a:rPr>
              <a:t> customers are less profitable — consider:</a:t>
            </a:r>
          </a:p>
          <a:p>
            <a:pPr lvl="3">
              <a:buFont typeface="Wingdings" panose="05000000000000000000" pitchFamily="2" charset="2"/>
              <a:buChar char="v"/>
            </a:pPr>
            <a:r>
              <a:rPr lang="en-IN" sz="2400" dirty="0">
                <a:solidFill>
                  <a:schemeClr val="bg1"/>
                </a:solidFill>
                <a:latin typeface="Cambria" panose="02040503050406030204" pitchFamily="18" charset="0"/>
              </a:rPr>
              <a:t>Smaller, specific promotions for this group.</a:t>
            </a:r>
          </a:p>
          <a:p>
            <a:pPr lvl="3">
              <a:buFont typeface="Wingdings" panose="05000000000000000000" pitchFamily="2" charset="2"/>
              <a:buChar char="v"/>
            </a:pPr>
            <a:r>
              <a:rPr lang="en-IN" sz="2400" dirty="0">
                <a:solidFill>
                  <a:schemeClr val="bg1"/>
                </a:solidFill>
                <a:latin typeface="Cambria" panose="02040503050406030204" pitchFamily="18" charset="0"/>
              </a:rPr>
              <a:t>Offer bundles rather than discounting single products.</a:t>
            </a:r>
          </a:p>
          <a:p>
            <a:pPr marL="0" indent="0">
              <a:buNone/>
            </a:pPr>
            <a:r>
              <a:rPr lang="en-IN" b="1" u="sng" dirty="0">
                <a:solidFill>
                  <a:srgbClr val="FFFF00"/>
                </a:solidFill>
                <a:latin typeface="Cambria" panose="02040503050406030204" pitchFamily="18" charset="0"/>
              </a:rPr>
              <a:t>7.Data Maintenance</a:t>
            </a:r>
          </a:p>
          <a:p>
            <a:pPr marL="0" indent="0">
              <a:buNone/>
            </a:pPr>
            <a:endParaRPr lang="en-IN" b="1" u="sng" dirty="0">
              <a:solidFill>
                <a:srgbClr val="FFFF00"/>
              </a:solidFill>
              <a:latin typeface="Cambria" panose="02040503050406030204" pitchFamily="18" charset="0"/>
            </a:endParaRPr>
          </a:p>
          <a:p>
            <a:pPr lvl="2"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chemeClr val="bg1"/>
                </a:solidFill>
                <a:latin typeface="Cambria" panose="02040503050406030204" pitchFamily="18" charset="0"/>
              </a:rPr>
              <a:t>Some product categories and sub-categories had missing or inconsistent data.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chemeClr val="bg1"/>
                </a:solidFill>
                <a:latin typeface="Cambria" panose="02040503050406030204" pitchFamily="18" charset="0"/>
              </a:rPr>
              <a:t>Regular </a:t>
            </a:r>
            <a:r>
              <a:rPr lang="en-IN" sz="2800" b="1" dirty="0">
                <a:solidFill>
                  <a:schemeClr val="bg1"/>
                </a:solidFill>
                <a:latin typeface="Cambria" panose="02040503050406030204" pitchFamily="18" charset="0"/>
              </a:rPr>
              <a:t>data audits</a:t>
            </a:r>
            <a:r>
              <a:rPr lang="en-IN" sz="2800" dirty="0">
                <a:solidFill>
                  <a:schemeClr val="bg1"/>
                </a:solidFill>
                <a:latin typeface="Cambria" panose="02040503050406030204" pitchFamily="18" charset="0"/>
              </a:rPr>
              <a:t> can help identify hidden issues earlier and improve decision-making</a:t>
            </a:r>
            <a:r>
              <a:rPr lang="en-IN" sz="2800" dirty="0">
                <a:latin typeface="Cambria" panose="02040503050406030204" pitchFamily="18" charset="0"/>
              </a:rPr>
              <a:t>.</a:t>
            </a:r>
          </a:p>
          <a:p>
            <a:endParaRPr lang="hi-IN" dirty="0"/>
          </a:p>
        </p:txBody>
      </p:sp>
    </p:spTree>
    <p:extLst>
      <p:ext uri="{BB962C8B-B14F-4D97-AF65-F5344CB8AC3E}">
        <p14:creationId xmlns:p14="http://schemas.microsoft.com/office/powerpoint/2010/main" val="39404586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4+ Hundred Thank You Slide Royalty-Free Images, Stock Photos &amp; Pictures |  Shutterstock">
            <a:extLst>
              <a:ext uri="{FF2B5EF4-FFF2-40B4-BE49-F238E27FC236}">
                <a16:creationId xmlns:a16="http://schemas.microsoft.com/office/drawing/2014/main" id="{04F85991-4B76-5C17-31B2-D093155690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1" b="7250"/>
          <a:stretch/>
        </p:blipFill>
        <p:spPr bwMode="auto">
          <a:xfrm>
            <a:off x="0" y="0"/>
            <a:ext cx="12192000" cy="6988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3333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515</TotalTime>
  <Words>562</Words>
  <Application>Microsoft Office PowerPoint</Application>
  <PresentationFormat>Widescreen</PresentationFormat>
  <Paragraphs>92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Arial</vt:lpstr>
      <vt:lpstr>Cambria</vt:lpstr>
      <vt:lpstr>Wingdings</vt:lpstr>
      <vt:lpstr>Office Theme</vt:lpstr>
      <vt:lpstr>Sales and Profit Analysis Superstores Sales Dataset</vt:lpstr>
      <vt:lpstr>Project Overview</vt:lpstr>
      <vt:lpstr>Key Insights: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Insights from  Superstore Dataset</vt:lpstr>
      <vt:lpstr>PowerPoint Presentation</vt:lpstr>
      <vt:lpstr>Recommendations to Improve Sales and Profits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ANBU</dc:creator>
  <cp:lastModifiedBy>ANBU</cp:lastModifiedBy>
  <cp:revision>12</cp:revision>
  <dcterms:created xsi:type="dcterms:W3CDTF">2025-04-27T06:40:47Z</dcterms:created>
  <dcterms:modified xsi:type="dcterms:W3CDTF">2025-07-08T16:24:34Z</dcterms:modified>
</cp:coreProperties>
</file>