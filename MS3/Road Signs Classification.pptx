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9" r:id="rId3"/>
    <p:sldId id="261" r:id="rId4"/>
    <p:sldId id="263" r:id="rId5"/>
    <p:sldId id="265" r:id="rId6"/>
    <p:sldId id="269" r:id="rId7"/>
    <p:sldId id="271" r:id="rId8"/>
    <p:sldId id="273" r:id="rId9"/>
    <p:sldId id="275" r:id="rId10"/>
    <p:sldId id="276" r:id="rId11"/>
  </p:sldIdLst>
  <p:sldSz cx="14630400" cy="8229600"/>
  <p:notesSz cx="8229600" cy="1463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8" d="100"/>
          <a:sy n="58" d="100"/>
        </p:scale>
        <p:origin x="7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arani Venkatesh" userId="443c374ef56083dc" providerId="LiveId" clId="{EFCD91F0-FFD9-48B2-9C3A-CBD3D212C9B9}"/>
    <pc:docChg chg="modSld">
      <pc:chgData name="Tharani Venkatesh" userId="443c374ef56083dc" providerId="LiveId" clId="{EFCD91F0-FFD9-48B2-9C3A-CBD3D212C9B9}" dt="2025-08-28T15:08:40.781" v="13" actId="1036"/>
      <pc:docMkLst>
        <pc:docMk/>
      </pc:docMkLst>
      <pc:sldChg chg="modSp mod">
        <pc:chgData name="Tharani Venkatesh" userId="443c374ef56083dc" providerId="LiveId" clId="{EFCD91F0-FFD9-48B2-9C3A-CBD3D212C9B9}" dt="2025-08-28T15:08:40.781" v="13" actId="1036"/>
        <pc:sldMkLst>
          <pc:docMk/>
          <pc:sldMk cId="0" sldId="256"/>
        </pc:sldMkLst>
        <pc:picChg chg="mod">
          <ac:chgData name="Tharani Venkatesh" userId="443c374ef56083dc" providerId="LiveId" clId="{EFCD91F0-FFD9-48B2-9C3A-CBD3D212C9B9}" dt="2025-08-28T15:08:40.781" v="13" actId="1036"/>
          <ac:picMkLst>
            <pc:docMk/>
            <pc:sldMk cId="0" sldId="256"/>
            <ac:picMk id="2" creationId="{00000000-0000-0000-0000-000000000000}"/>
          </ac:picMkLst>
        </pc:picChg>
      </pc:sldChg>
      <pc:sldChg chg="modSp mod">
        <pc:chgData name="Tharani Venkatesh" userId="443c374ef56083dc" providerId="LiveId" clId="{EFCD91F0-FFD9-48B2-9C3A-CBD3D212C9B9}" dt="2025-08-28T14:09:39.942" v="11" actId="20577"/>
        <pc:sldMkLst>
          <pc:docMk/>
          <pc:sldMk cId="0" sldId="263"/>
        </pc:sldMkLst>
        <pc:spChg chg="mod">
          <ac:chgData name="Tharani Venkatesh" userId="443c374ef56083dc" providerId="LiveId" clId="{EFCD91F0-FFD9-48B2-9C3A-CBD3D212C9B9}" dt="2025-08-28T14:09:39.942" v="11" actId="20577"/>
          <ac:spMkLst>
            <pc:docMk/>
            <pc:sldMk cId="0" sldId="263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8026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4197096"/>
          </a:xfrm>
          <a:prstGeom prst="rect">
            <a:avLst/>
          </a:prstGeom>
        </p:spPr>
      </p:pic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302"/>
            <a:ext cx="14630400" cy="823874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652776"/>
            <a:ext cx="13267944" cy="27432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294367" y="2401304"/>
            <a:ext cx="13267944" cy="841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6620"/>
              </a:lnSpc>
              <a:buNone/>
            </a:pPr>
            <a:r>
              <a:rPr lang="en-US" sz="5290" b="1" dirty="0">
                <a:solidFill>
                  <a:srgbClr val="E36883"/>
                </a:solidFill>
                <a:latin typeface="Times New Roman" panose="02020603050405020304" pitchFamily="18" charset="0"/>
                <a:ea typeface="AlibabaPuHuiTi-Alibaba-PuHuiTi" pitchFamily="34" charset="-122"/>
                <a:cs typeface="Times New Roman" panose="02020603050405020304" pitchFamily="18" charset="0"/>
              </a:rPr>
              <a:t>Road Signs Classification using CNN</a:t>
            </a:r>
            <a:endParaRPr lang="en-US" sz="529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907EA4-366E-34A4-C6EB-B096392224A2}"/>
              </a:ext>
            </a:extLst>
          </p:cNvPr>
          <p:cNvSpPr txBox="1"/>
          <p:nvPr/>
        </p:nvSpPr>
        <p:spPr>
          <a:xfrm>
            <a:off x="10454406" y="3841132"/>
            <a:ext cx="349933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BY:</a:t>
            </a:r>
          </a:p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Anbunagalaksmi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S</a:t>
            </a:r>
          </a:p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DADS- Feb Online	</a:t>
            </a:r>
            <a:endParaRPr lang="hi-IN" sz="2400" b="1" dirty="0">
              <a:solidFill>
                <a:schemeClr val="bg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685800" y="881149"/>
            <a:ext cx="8293608" cy="7281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E36883"/>
                </a:solidFill>
                <a:latin typeface="Times New Roman" panose="02020603050405020304" pitchFamily="18" charset="0"/>
                <a:ea typeface="AlibabaPuHuiTi-Alibaba-PuHuiTi" pitchFamily="34" charset="-122"/>
                <a:cs typeface="Times New Roman" panose="02020603050405020304" pitchFamily="18" charset="0"/>
              </a:rPr>
              <a:t>Introduction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935182" y="2298469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Road signs are vital for traffic safety.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935182" y="2784348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Automated</a:t>
            </a:r>
            <a:r>
              <a:rPr lang="en-US" sz="1530" dirty="0">
                <a:solidFill>
                  <a:srgbClr val="D3D3D3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 </a:t>
            </a: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recognition is important for autonomous vehicles.</a:t>
            </a:r>
          </a:p>
        </p:txBody>
      </p:sp>
      <p:sp>
        <p:nvSpPr>
          <p:cNvPr id="7" name="Text 3"/>
          <p:cNvSpPr/>
          <p:nvPr/>
        </p:nvSpPr>
        <p:spPr>
          <a:xfrm>
            <a:off x="935182" y="3261914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This project builds a Convolutional Neural Network (CNN) to classify road signs.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4" y="-242316"/>
            <a:ext cx="5431536" cy="8238744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685800" y="833767"/>
            <a:ext cx="8293608" cy="6126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40" b="1" dirty="0">
                <a:solidFill>
                  <a:srgbClr val="E36883"/>
                </a:solidFill>
                <a:latin typeface="Times New Roman" panose="02020603050405020304" pitchFamily="18" charset="0"/>
                <a:ea typeface="AlibabaPuHuiTi-Alibaba-PuHuiTi" pitchFamily="34" charset="-122"/>
                <a:cs typeface="Times New Roman" panose="02020603050405020304" pitchFamily="18" charset="0"/>
              </a:rPr>
              <a:t>Objectives</a:t>
            </a:r>
            <a:endParaRPr lang="en-US" sz="384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1"/>
          <p:cNvSpPr/>
          <p:nvPr/>
        </p:nvSpPr>
        <p:spPr>
          <a:xfrm>
            <a:off x="1133856" y="1952245"/>
            <a:ext cx="78455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Develop a CNN model for road sign classification.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2"/>
          <p:cNvSpPr/>
          <p:nvPr/>
        </p:nvSpPr>
        <p:spPr>
          <a:xfrm>
            <a:off x="1101852" y="2640849"/>
            <a:ext cx="78455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Evaluate model performance with standard metrics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3"/>
          <p:cNvSpPr/>
          <p:nvPr/>
        </p:nvSpPr>
        <p:spPr>
          <a:xfrm>
            <a:off x="1101852" y="3329453"/>
            <a:ext cx="78455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Deploy a user-friendly Streamlit app for real-time predictions</a:t>
            </a:r>
            <a:r>
              <a:rPr lang="en-US" sz="1530" dirty="0">
                <a:solidFill>
                  <a:srgbClr val="D3D3D3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.</a:t>
            </a:r>
            <a:endParaRPr lang="en-US" sz="15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369916" y="513726"/>
            <a:ext cx="8293608" cy="6126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40" b="1" dirty="0">
                <a:solidFill>
                  <a:srgbClr val="E36883"/>
                </a:solidFill>
                <a:latin typeface="Times New Roman" panose="02020603050405020304" pitchFamily="18" charset="0"/>
                <a:ea typeface="AlibabaPuHuiTi-Alibaba-PuHuiTi" pitchFamily="34" charset="-122"/>
                <a:cs typeface="Times New Roman" panose="02020603050405020304" pitchFamily="18" charset="0"/>
              </a:rPr>
              <a:t>Dataset Description</a:t>
            </a:r>
            <a:endParaRPr lang="en-US" sz="384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884475" y="1345830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Road sign dataset with 43 classes.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884475" y="1849580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Images resized to 32×32 RGB</a:t>
            </a:r>
            <a:r>
              <a:rPr lang="en-US" sz="1530" dirty="0">
                <a:solidFill>
                  <a:srgbClr val="D3D3D3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.</a:t>
            </a:r>
            <a:endParaRPr lang="en-US" sz="1530" dirty="0"/>
          </a:p>
        </p:txBody>
      </p:sp>
      <p:sp>
        <p:nvSpPr>
          <p:cNvPr id="7" name="Text 3"/>
          <p:cNvSpPr/>
          <p:nvPr/>
        </p:nvSpPr>
        <p:spPr>
          <a:xfrm>
            <a:off x="884475" y="2303455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Data split: 60% Training, 20% Validation, 20% Testing</a:t>
            </a:r>
            <a:r>
              <a:rPr lang="en-US" sz="1530" dirty="0">
                <a:solidFill>
                  <a:srgbClr val="D3D3D3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.</a:t>
            </a:r>
            <a:endParaRPr lang="en-US" sz="1530" dirty="0"/>
          </a:p>
        </p:txBody>
      </p:sp>
      <p:sp>
        <p:nvSpPr>
          <p:cNvPr id="8" name="Text 4"/>
          <p:cNvSpPr/>
          <p:nvPr/>
        </p:nvSpPr>
        <p:spPr>
          <a:xfrm>
            <a:off x="884475" y="2799725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Applied data augmentation (rotation, flipping, scaling).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IRC Code 67: Essential Specifications for Traffic Signs and Safety Markers">
            <a:extLst>
              <a:ext uri="{FF2B5EF4-FFF2-40B4-BE49-F238E27FC236}">
                <a16:creationId xmlns:a16="http://schemas.microsoft.com/office/drawing/2014/main" id="{5ED89469-A83C-2279-4D03-B9880011F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2641" y="-32836"/>
            <a:ext cx="4937760" cy="8262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320040" y="757326"/>
            <a:ext cx="8293608" cy="6126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40" b="1" dirty="0">
                <a:solidFill>
                  <a:srgbClr val="E36883"/>
                </a:solidFill>
                <a:latin typeface="Times New Roman" panose="02020603050405020304" pitchFamily="18" charset="0"/>
                <a:ea typeface="AlibabaPuHuiTi-Alibaba-PuHuiTi" pitchFamily="34" charset="-122"/>
                <a:cs typeface="Times New Roman" panose="02020603050405020304" pitchFamily="18" charset="0"/>
              </a:rPr>
              <a:t>Model Architecture (CNN)</a:t>
            </a:r>
            <a:endParaRPr lang="en-US" sz="384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685800" y="1672268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Input: 32×32×3 images</a:t>
            </a:r>
            <a:r>
              <a:rPr lang="en-US" sz="1530" dirty="0">
                <a:solidFill>
                  <a:srgbClr val="D3D3D3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.</a:t>
            </a:r>
            <a:endParaRPr lang="en-US" sz="1530" dirty="0"/>
          </a:p>
        </p:txBody>
      </p:sp>
      <p:sp>
        <p:nvSpPr>
          <p:cNvPr id="6" name="Text 2"/>
          <p:cNvSpPr/>
          <p:nvPr/>
        </p:nvSpPr>
        <p:spPr>
          <a:xfrm>
            <a:off x="685800" y="2194930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Layers: Convolution + Pooling → Dense → Softmax</a:t>
            </a:r>
            <a:r>
              <a:rPr lang="en-US" sz="1530" dirty="0">
                <a:solidFill>
                  <a:srgbClr val="D3D3D3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.</a:t>
            </a:r>
            <a:endParaRPr lang="en-US" sz="1530" dirty="0"/>
          </a:p>
        </p:txBody>
      </p:sp>
      <p:sp>
        <p:nvSpPr>
          <p:cNvPr id="7" name="Text 3"/>
          <p:cNvSpPr/>
          <p:nvPr/>
        </p:nvSpPr>
        <p:spPr>
          <a:xfrm>
            <a:off x="685800" y="2751385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Activation: ReLU (hidden), Softmax (output).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685800" y="3294206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Optimizer: Adam.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685800" y="3807291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Loss Function: Categorical Cross-Entropy.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29A8A85-9080-2F4B-C222-D0A4C4F13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1303" y="1809428"/>
            <a:ext cx="7316221" cy="4610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920868" y="1129284"/>
            <a:ext cx="8293608" cy="6126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40" b="1" dirty="0">
                <a:solidFill>
                  <a:srgbClr val="E36883"/>
                </a:solidFill>
                <a:latin typeface="Times New Roman" panose="02020603050405020304" pitchFamily="18" charset="0"/>
                <a:ea typeface="AlibabaPuHuiTi-Alibaba-PuHuiTi" pitchFamily="34" charset="-122"/>
                <a:cs typeface="Times New Roman" panose="02020603050405020304" pitchFamily="18" charset="0"/>
              </a:rPr>
              <a:t>Model Evaluation</a:t>
            </a:r>
            <a:endParaRPr lang="en-US" sz="384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920868" y="2018456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Accuracy: ~95%.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920868" y="2569301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Metrics: Precision, Recall, F1-Score.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920868" y="2926414"/>
            <a:ext cx="8293608" cy="868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Confusion Matrix shows high performance </a:t>
            </a:r>
          </a:p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across most classes.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23227" y="498608"/>
            <a:ext cx="8293608" cy="6126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40" b="1" dirty="0">
                <a:solidFill>
                  <a:srgbClr val="E36883"/>
                </a:solidFill>
                <a:latin typeface="Times New Roman" panose="02020603050405020304" pitchFamily="18" charset="0"/>
                <a:ea typeface="AlibabaPuHuiTi-Alibaba-PuHuiTi" pitchFamily="34" charset="-122"/>
                <a:cs typeface="Times New Roman" panose="02020603050405020304" pitchFamily="18" charset="0"/>
              </a:rPr>
              <a:t>Results &amp; Insights</a:t>
            </a:r>
            <a:endParaRPr lang="en-US" sz="384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938507" y="1425607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CNN accurately classifies 43 road sign classes.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936785" y="1979676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Performs well on unseen test images</a:t>
            </a:r>
            <a:r>
              <a:rPr lang="en-US" sz="1530" dirty="0">
                <a:solidFill>
                  <a:srgbClr val="D3D3D3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.</a:t>
            </a:r>
            <a:endParaRPr lang="en-US" sz="1530" dirty="0"/>
          </a:p>
        </p:txBody>
      </p:sp>
      <p:sp>
        <p:nvSpPr>
          <p:cNvPr id="7" name="Text 3"/>
          <p:cNvSpPr/>
          <p:nvPr/>
        </p:nvSpPr>
        <p:spPr>
          <a:xfrm>
            <a:off x="936785" y="2491480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Minor confusion between similar signs (e.g., speed limits).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Traffic Signs PowerPoint Templates and ...">
            <a:extLst>
              <a:ext uri="{FF2B5EF4-FFF2-40B4-BE49-F238E27FC236}">
                <a16:creationId xmlns:a16="http://schemas.microsoft.com/office/drawing/2014/main" id="{B44134CE-1FE6-6341-1777-40D41345E8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587"/>
          <a:stretch/>
        </p:blipFill>
        <p:spPr bwMode="auto">
          <a:xfrm>
            <a:off x="10093374" y="0"/>
            <a:ext cx="4537026" cy="8233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76" y="0"/>
            <a:ext cx="5230368" cy="8238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454290"/>
            <a:ext cx="8293608" cy="6126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40" b="1" dirty="0">
                <a:solidFill>
                  <a:srgbClr val="E36883"/>
                </a:solidFill>
                <a:latin typeface="Times New Roman" panose="02020603050405020304" pitchFamily="18" charset="0"/>
                <a:ea typeface="AlibabaPuHuiTi-Alibaba-PuHuiTi" pitchFamily="34" charset="-122"/>
                <a:cs typeface="Times New Roman" panose="02020603050405020304" pitchFamily="18" charset="0"/>
              </a:rPr>
              <a:t>Deployment (Streamlit App)</a:t>
            </a:r>
            <a:endParaRPr lang="en-US" sz="384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900684" y="1417320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Developed Streamlit-based UI.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900684" y="1963050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Upload road sign image → Get prediction + confidence score</a:t>
            </a:r>
            <a:r>
              <a:rPr lang="en-US" sz="1530" dirty="0">
                <a:solidFill>
                  <a:srgbClr val="D3D3D3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.</a:t>
            </a:r>
            <a:endParaRPr lang="en-US" sz="1530" dirty="0"/>
          </a:p>
        </p:txBody>
      </p:sp>
      <p:sp>
        <p:nvSpPr>
          <p:cNvPr id="7" name="Text 3"/>
          <p:cNvSpPr/>
          <p:nvPr/>
        </p:nvSpPr>
        <p:spPr>
          <a:xfrm>
            <a:off x="900684" y="2587752"/>
            <a:ext cx="8293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Example: Input = STOP sign → Output = “Stop (99.2%)”.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0"/>
          <p:cNvSpPr/>
          <p:nvPr/>
        </p:nvSpPr>
        <p:spPr>
          <a:xfrm>
            <a:off x="5440680" y="0"/>
            <a:ext cx="8293608" cy="6126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40" b="1" dirty="0">
                <a:solidFill>
                  <a:srgbClr val="E36883"/>
                </a:solidFill>
                <a:latin typeface="Times New Roman" panose="02020603050405020304" pitchFamily="18" charset="0"/>
                <a:ea typeface="AlibabaPuHuiTi-Alibaba-PuHuiTi" pitchFamily="34" charset="-122"/>
                <a:cs typeface="Times New Roman" panose="02020603050405020304" pitchFamily="18" charset="0"/>
              </a:rPr>
              <a:t>Future Improvements</a:t>
            </a:r>
            <a:endParaRPr lang="en-US" sz="384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1"/>
          <p:cNvSpPr/>
          <p:nvPr/>
        </p:nvSpPr>
        <p:spPr>
          <a:xfrm>
            <a:off x="6337623" y="894449"/>
            <a:ext cx="78455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Train on larger &amp; diverse datasets.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2"/>
          <p:cNvSpPr/>
          <p:nvPr/>
        </p:nvSpPr>
        <p:spPr>
          <a:xfrm>
            <a:off x="6337623" y="1450570"/>
            <a:ext cx="78455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Apply transfer learning (ResNet, VGG).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3"/>
          <p:cNvSpPr/>
          <p:nvPr/>
        </p:nvSpPr>
        <p:spPr>
          <a:xfrm>
            <a:off x="6337623" y="2006691"/>
            <a:ext cx="78455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800" dirty="0">
                <a:solidFill>
                  <a:srgbClr val="D3D3D3"/>
                </a:solidFill>
                <a:latin typeface="Times New Roman" panose="02020603050405020304" pitchFamily="18" charset="0"/>
                <a:ea typeface="思源黑体-思源黑体-Regular" pitchFamily="34" charset="-122"/>
                <a:cs typeface="Times New Roman" panose="02020603050405020304" pitchFamily="18" charset="0"/>
              </a:rPr>
              <a:t>Extend deployment to mobile apps for real-time detection.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The Future Is Now: 10 Technologies Changing the Way We Develop Software">
            <a:extLst>
              <a:ext uri="{FF2B5EF4-FFF2-40B4-BE49-F238E27FC236}">
                <a16:creationId xmlns:a16="http://schemas.microsoft.com/office/drawing/2014/main" id="{E230CC77-ED91-94F4-32FC-E71C44963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004262" cy="822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3593592"/>
            <a:ext cx="13267944" cy="841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6620"/>
              </a:lnSpc>
              <a:buNone/>
            </a:pPr>
            <a:r>
              <a:rPr lang="en-US" sz="5290" b="1" dirty="0">
                <a:solidFill>
                  <a:srgbClr val="E36883"/>
                </a:solidFill>
                <a:latin typeface="Times New Roman" panose="02020603050405020304" pitchFamily="18" charset="0"/>
                <a:ea typeface="AlibabaPuHuiTi-Alibaba-PuHuiTi" pitchFamily="34" charset="-122"/>
                <a:cs typeface="Times New Roman" panose="02020603050405020304" pitchFamily="18" charset="0"/>
              </a:rPr>
              <a:t>Thank You</a:t>
            </a:r>
            <a:endParaRPr lang="en-US" sz="529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280</Words>
  <Application>Microsoft Office PowerPoint</Application>
  <PresentationFormat>Custom</PresentationFormat>
  <Paragraphs>51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Times New Roman</vt:lpstr>
      <vt:lpstr>思源黑体-思源黑体-Regular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ANBU</cp:lastModifiedBy>
  <cp:revision>8</cp:revision>
  <dcterms:created xsi:type="dcterms:W3CDTF">2025-08-26T14:15:45Z</dcterms:created>
  <dcterms:modified xsi:type="dcterms:W3CDTF">2025-09-29T15:29:23Z</dcterms:modified>
</cp:coreProperties>
</file>